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Play"/>
      <p:regular r:id="rId22"/>
      <p:bold r:id="rId23"/>
    </p:embeddedFont>
    <p:embeddedFont>
      <p:font typeface="Gill Sans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E80AC9-A9E2-4877-8D1C-2906673A1DD8}">
  <a:tblStyle styleId="{D7E80AC9-A9E2-4877-8D1C-2906673A1DD8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Play-regular.fntdata"/><Relationship Id="rId21" Type="http://schemas.openxmlformats.org/officeDocument/2006/relationships/slide" Target="slides/slide14.xml"/><Relationship Id="rId24" Type="http://schemas.openxmlformats.org/officeDocument/2006/relationships/font" Target="fonts/GillSans-regular.fntdata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font" Target="fonts/GillSa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67ba1e2f8_1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67ba1e2f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67ba1e2f8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e67ba1e2f8_1_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67ba1e2f8_1_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67ba1e2f8_1_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67ba1e2f8_1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67ba1e2f8_1_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e67ba1e2f8_1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6955d6105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e6955d6105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a93059f6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da93059f64_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a93059f6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da93059f64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a93059f6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da93059f64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67ba1e2f8_1_1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67ba1e2f8_1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a93059f64_0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da93059f64_0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67ba1e2f8_1_1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e67ba1e2f8_1_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a93059f64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da93059f64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69b81400a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e69b81400a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67ba1e2f8_1_1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e67ba1e2f8_1_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2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200" cy="1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00" cy="1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200" cy="2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50" y="-125850"/>
            <a:ext cx="22629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hyperlink" Target="https://data.mendeley.com/datasets/yj3md44hxg/2" TargetMode="External"/><Relationship Id="rId5" Type="http://schemas.openxmlformats.org/officeDocument/2006/relationships/hyperlink" Target="https://data.mendeley.com/datasets/yj3md44hxg/2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721250" y="1141575"/>
            <a:ext cx="78510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4292E"/>
                </a:solidFill>
                <a:highlight>
                  <a:srgbClr val="FFFFFF"/>
                </a:highlight>
                <a:latin typeface="Gill Sans"/>
                <a:ea typeface="Gill Sans"/>
                <a:cs typeface="Gill Sans"/>
                <a:sym typeface="Gill Sans"/>
              </a:rPr>
              <a:t>Smart Remote Skin Disease Diagnosis using Vision Analytics and IoT-Based Health Monitoring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1" i="0" sz="23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2492245" y="171702"/>
            <a:ext cx="4005629" cy="688465"/>
          </a:xfrm>
          <a:custGeom>
            <a:rect b="b" l="l" r="r" t="t"/>
            <a:pathLst>
              <a:path extrusionOk="0" h="1939163" w="11402695">
                <a:moveTo>
                  <a:pt x="0" y="0"/>
                </a:moveTo>
                <a:lnTo>
                  <a:pt x="11402695" y="0"/>
                </a:lnTo>
                <a:lnTo>
                  <a:pt x="11402695" y="1939163"/>
                </a:lnTo>
                <a:lnTo>
                  <a:pt x="0" y="1939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4" l="0" r="0" t="-17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1398639" y="4354641"/>
            <a:ext cx="6496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UNDER THE </a:t>
            </a:r>
            <a:r>
              <a:rPr lang="en" sz="1800">
                <a:latin typeface="Play"/>
                <a:ea typeface="Play"/>
                <a:cs typeface="Play"/>
                <a:sym typeface="Play"/>
              </a:rPr>
              <a:t>GUIDANCE</a:t>
            </a:r>
            <a:r>
              <a:rPr lang="en" sz="18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 OF: </a:t>
            </a:r>
            <a:endParaRPr sz="700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Geeta Sanakki 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3208538" y="1765314"/>
            <a:ext cx="2573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TEAM </a:t>
            </a:r>
            <a:r>
              <a:rPr b="1" lang="en" sz="1700">
                <a:latin typeface="Gill Sans"/>
                <a:ea typeface="Gill Sans"/>
                <a:cs typeface="Gill Sans"/>
                <a:sym typeface="Gill Sans"/>
              </a:rPr>
              <a:t>14</a:t>
            </a:r>
            <a:endParaRPr sz="700"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133" name="Google Shape;133;p25"/>
          <p:cNvGraphicFramePr/>
          <p:nvPr/>
        </p:nvGraphicFramePr>
        <p:xfrm>
          <a:off x="1398639" y="20442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{D7E80AC9-A9E2-4877-8D1C-2906673A1DD8}</a:tableStyleId>
              </a:tblPr>
              <a:tblGrid>
                <a:gridCol w="1702475"/>
                <a:gridCol w="2838225"/>
                <a:gridCol w="1855350"/>
              </a:tblGrid>
              <a:tr h="44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 u="none" cap="none" strike="noStrike">
                          <a:solidFill>
                            <a:srgbClr val="000000"/>
                          </a:solidFill>
                        </a:rPr>
                        <a:t>ROLL NO.</a:t>
                      </a:r>
                      <a:endParaRPr b="1" sz="600" u="none" cap="none" strike="noStrik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 u="none" cap="none" strike="noStrike">
                          <a:solidFill>
                            <a:srgbClr val="000000"/>
                          </a:solidFill>
                        </a:rPr>
                        <a:t>NAME</a:t>
                      </a:r>
                      <a:endParaRPr b="1" sz="600" u="none" cap="none" strike="noStrik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 u="none" cap="none" strike="noStrike">
                          <a:solidFill>
                            <a:srgbClr val="000000"/>
                          </a:solidFill>
                        </a:rPr>
                        <a:t>SRN</a:t>
                      </a:r>
                      <a:endParaRPr b="1" sz="600" u="none" cap="none" strike="noStrik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45725" marL="45725" anchor="ctr"/>
                </a:tc>
              </a:tr>
              <a:tr h="44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 u="none" cap="none" strike="noStrike">
                          <a:solidFill>
                            <a:srgbClr val="000000"/>
                          </a:solidFill>
                        </a:rPr>
                        <a:t>544</a:t>
                      </a:r>
                      <a:endParaRPr b="0" sz="600" u="none" cap="none" strike="noStrik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 u="none" cap="none" strike="noStrike">
                          <a:solidFill>
                            <a:srgbClr val="000000"/>
                          </a:solidFill>
                        </a:rPr>
                        <a:t>SUMANTH SHET</a:t>
                      </a:r>
                      <a:endParaRPr b="0" sz="600" u="none" cap="none" strike="noStrik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 u="none" cap="none" strike="noStrike">
                          <a:solidFill>
                            <a:srgbClr val="000000"/>
                          </a:solidFill>
                        </a:rPr>
                        <a:t>01FE23BCS280</a:t>
                      </a:r>
                      <a:endParaRPr b="0" sz="600" u="none" cap="none" strike="noStrik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45725" marL="45725" anchor="ctr"/>
                </a:tc>
              </a:tr>
              <a:tr h="44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 u="none" cap="none" strike="noStrike">
                          <a:solidFill>
                            <a:srgbClr val="000000"/>
                          </a:solidFill>
                        </a:rPr>
                        <a:t>545</a:t>
                      </a:r>
                      <a:endParaRPr b="0" sz="600" u="none" cap="none" strike="noStrik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 u="none" cap="none" strike="noStrike">
                          <a:solidFill>
                            <a:srgbClr val="000000"/>
                          </a:solidFill>
                        </a:rPr>
                        <a:t>MALLIKARJUN G PATIL</a:t>
                      </a:r>
                      <a:endParaRPr b="0" sz="600" u="none" cap="none" strike="noStrik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 u="none" cap="none" strike="noStrike">
                          <a:solidFill>
                            <a:srgbClr val="000000"/>
                          </a:solidFill>
                        </a:rPr>
                        <a:t>01FE23BCS283</a:t>
                      </a:r>
                      <a:endParaRPr b="0" sz="600" u="none" cap="none" strike="noStrik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45725" marL="45725" anchor="ctr"/>
                </a:tc>
              </a:tr>
              <a:tr h="44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 u="none" cap="none" strike="noStrike">
                          <a:solidFill>
                            <a:srgbClr val="000000"/>
                          </a:solidFill>
                        </a:rPr>
                        <a:t>549</a:t>
                      </a:r>
                      <a:endParaRPr b="0" sz="600" u="none" cap="none" strike="noStrik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 u="none" cap="none" strike="noStrike">
                          <a:solidFill>
                            <a:srgbClr val="000000"/>
                          </a:solidFill>
                        </a:rPr>
                        <a:t>PRAJWAL ARAVATTI</a:t>
                      </a:r>
                      <a:endParaRPr b="0" sz="600" u="none" cap="none" strike="noStrik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 u="none" cap="none" strike="noStrike">
                          <a:solidFill>
                            <a:srgbClr val="000000"/>
                          </a:solidFill>
                        </a:rPr>
                        <a:t>01FE23BCS299</a:t>
                      </a:r>
                      <a:endParaRPr b="0" sz="600" u="none" cap="none" strike="noStrik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45725" marL="45725" anchor="ctr"/>
                </a:tc>
              </a:tr>
              <a:tr h="44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</a:rPr>
                        <a:t>563</a:t>
                      </a:r>
                      <a:endParaRPr b="0" sz="16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</a:rPr>
                        <a:t>MD IMRAN</a:t>
                      </a:r>
                      <a:endParaRPr b="0" sz="16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</a:rPr>
                        <a:t>01FE23BCS378</a:t>
                      </a:r>
                      <a:endParaRPr b="0" sz="16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45725" marL="457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26"/>
          <p:cNvGrpSpPr/>
          <p:nvPr/>
        </p:nvGrpSpPr>
        <p:grpSpPr>
          <a:xfrm>
            <a:off x="3018830" y="4889897"/>
            <a:ext cx="3086100" cy="288132"/>
            <a:chOff x="0" y="-38100"/>
            <a:chExt cx="8229600" cy="768350"/>
          </a:xfrm>
        </p:grpSpPr>
        <p:sp>
          <p:nvSpPr>
            <p:cNvPr id="140" name="Google Shape;140;p26"/>
            <p:cNvSpPr/>
            <p:nvPr/>
          </p:nvSpPr>
          <p:spPr>
            <a:xfrm>
              <a:off x="0" y="0"/>
              <a:ext cx="8229600" cy="730250"/>
            </a:xfrm>
            <a:custGeom>
              <a:rect b="b" l="l" r="r" t="t"/>
              <a:pathLst>
                <a:path extrusionOk="0"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26"/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and Engineering</a:t>
              </a:r>
              <a:endParaRPr sz="700"/>
            </a:p>
          </p:txBody>
        </p:sp>
      </p:grpSp>
      <p:grpSp>
        <p:nvGrpSpPr>
          <p:cNvPr id="142" name="Google Shape;142;p26"/>
          <p:cNvGrpSpPr/>
          <p:nvPr/>
        </p:nvGrpSpPr>
        <p:grpSpPr>
          <a:xfrm>
            <a:off x="6438305" y="4889897"/>
            <a:ext cx="2172295" cy="288132"/>
            <a:chOff x="0" y="-38100"/>
            <a:chExt cx="5792787" cy="768350"/>
          </a:xfrm>
        </p:grpSpPr>
        <p:sp>
          <p:nvSpPr>
            <p:cNvPr id="143" name="Google Shape;143;p26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26"/>
            <p:cNvSpPr txBox="1"/>
            <p:nvPr/>
          </p:nvSpPr>
          <p:spPr>
            <a:xfrm>
              <a:off x="0" y="-38100"/>
              <a:ext cx="5792787" cy="768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26"/>
          <p:cNvSpPr/>
          <p:nvPr/>
        </p:nvSpPr>
        <p:spPr>
          <a:xfrm>
            <a:off x="6597046" y="81225"/>
            <a:ext cx="2546961" cy="433133"/>
          </a:xfrm>
          <a:custGeom>
            <a:rect b="b" l="l" r="r" t="t"/>
            <a:pathLst>
              <a:path extrusionOk="0" h="1267079" w="7450836">
                <a:moveTo>
                  <a:pt x="0" y="0"/>
                </a:moveTo>
                <a:lnTo>
                  <a:pt x="7450836" y="0"/>
                </a:lnTo>
                <a:lnTo>
                  <a:pt x="7450836" y="1267079"/>
                </a:lnTo>
                <a:lnTo>
                  <a:pt x="0" y="1267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-16" r="-16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273250" y="33100"/>
            <a:ext cx="40347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INTRODUCTION:</a:t>
            </a:r>
            <a:endParaRPr sz="7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7" name="Google Shape;147;p26"/>
          <p:cNvSpPr/>
          <p:nvPr/>
        </p:nvSpPr>
        <p:spPr>
          <a:xfrm>
            <a:off x="6138430" y="109986"/>
            <a:ext cx="3005566" cy="511111"/>
          </a:xfrm>
          <a:custGeom>
            <a:rect b="b" l="l" r="r" t="t"/>
            <a:pathLst>
              <a:path extrusionOk="0" h="1362964" w="8014843">
                <a:moveTo>
                  <a:pt x="0" y="0"/>
                </a:moveTo>
                <a:lnTo>
                  <a:pt x="8014843" y="0"/>
                </a:lnTo>
                <a:lnTo>
                  <a:pt x="8014843" y="1362964"/>
                </a:lnTo>
                <a:lnTo>
                  <a:pt x="0" y="1362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" l="0" r="0" t="-17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8" name="Google Shape;148;p26"/>
          <p:cNvSpPr/>
          <p:nvPr/>
        </p:nvSpPr>
        <p:spPr>
          <a:xfrm>
            <a:off x="147588" y="4898743"/>
            <a:ext cx="8995219" cy="17907"/>
          </a:xfrm>
          <a:custGeom>
            <a:rect b="b" l="l" r="r" t="t"/>
            <a:pathLst>
              <a:path extrusionOk="0" h="47752" w="23987252">
                <a:moveTo>
                  <a:pt x="127" y="0"/>
                </a:moveTo>
                <a:lnTo>
                  <a:pt x="23987252" y="41275"/>
                </a:lnTo>
                <a:lnTo>
                  <a:pt x="23987252" y="47752"/>
                </a:lnTo>
                <a:lnTo>
                  <a:pt x="0" y="6477"/>
                </a:lnTo>
                <a:close/>
              </a:path>
            </a:pathLst>
          </a:custGeom>
          <a:solidFill>
            <a:srgbClr val="13508B">
              <a:alpha val="69803"/>
            </a:srgbClr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49" name="Google Shape;149;p26"/>
          <p:cNvCxnSpPr/>
          <p:nvPr/>
        </p:nvCxnSpPr>
        <p:spPr>
          <a:xfrm>
            <a:off x="0" y="745435"/>
            <a:ext cx="9144000" cy="0"/>
          </a:xfrm>
          <a:prstGeom prst="straightConnector1">
            <a:avLst/>
          </a:prstGeom>
          <a:noFill/>
          <a:ln cap="flat" cmpd="sng" w="317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26"/>
          <p:cNvSpPr/>
          <p:nvPr/>
        </p:nvSpPr>
        <p:spPr>
          <a:xfrm>
            <a:off x="417751" y="1269471"/>
            <a:ext cx="7915800" cy="3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Gill Sans"/>
              <a:buChar char="⮚"/>
            </a:pPr>
            <a:r>
              <a:rPr lang="en" sz="17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Skin-related diseases are often difficult to detect early, especially in remote or underserved areas where dermatologists are scarce.</a:t>
            </a:r>
            <a:endParaRPr sz="17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Gill Sans"/>
              <a:buChar char="⮚"/>
            </a:pPr>
            <a:r>
              <a:rPr lang="en" sz="17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Many patients delay consultation due to lack of access, high costs, or lack of awareness.</a:t>
            </a:r>
            <a:endParaRPr sz="17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Gill Sans"/>
              <a:buChar char="⮚"/>
            </a:pPr>
            <a:r>
              <a:rPr lang="en" sz="17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While existing AI systems analyze skin images, they often rely on expensive clinical equipment (dermoscopes).</a:t>
            </a:r>
            <a:endParaRPr sz="17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Gill Sans"/>
              <a:buChar char="⮚"/>
            </a:pPr>
            <a:r>
              <a:rPr lang="en" sz="17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Our Approach is an integrated, accessible system that utilizes a simple smartphone camera (EIOT device) combined with AI vision analytics to provide immediate risk screening.</a:t>
            </a:r>
            <a:endParaRPr sz="17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Gill Sans"/>
              <a:buChar char="⮚"/>
            </a:pPr>
            <a:r>
              <a:rPr lang="en" sz="17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The system connects the patient directly to a backend AI model and routes results to a doctor for final validation, making remote diagnosis seamless.</a:t>
            </a:r>
            <a:endParaRPr sz="17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27"/>
          <p:cNvGrpSpPr/>
          <p:nvPr/>
        </p:nvGrpSpPr>
        <p:grpSpPr>
          <a:xfrm>
            <a:off x="3018830" y="4889897"/>
            <a:ext cx="3086100" cy="288132"/>
            <a:chOff x="0" y="-38100"/>
            <a:chExt cx="8229600" cy="768350"/>
          </a:xfrm>
        </p:grpSpPr>
        <p:sp>
          <p:nvSpPr>
            <p:cNvPr id="156" name="Google Shape;156;p27"/>
            <p:cNvSpPr/>
            <p:nvPr/>
          </p:nvSpPr>
          <p:spPr>
            <a:xfrm>
              <a:off x="0" y="0"/>
              <a:ext cx="8229600" cy="730250"/>
            </a:xfrm>
            <a:custGeom>
              <a:rect b="b" l="l" r="r" t="t"/>
              <a:pathLst>
                <a:path extrusionOk="0"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7" name="Google Shape;157;p27"/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and Engineering</a:t>
              </a:r>
              <a:endParaRPr sz="700"/>
            </a:p>
          </p:txBody>
        </p:sp>
      </p:grpSp>
      <p:grpSp>
        <p:nvGrpSpPr>
          <p:cNvPr id="158" name="Google Shape;158;p27"/>
          <p:cNvGrpSpPr/>
          <p:nvPr/>
        </p:nvGrpSpPr>
        <p:grpSpPr>
          <a:xfrm>
            <a:off x="6438305" y="4889897"/>
            <a:ext cx="2057400" cy="288132"/>
            <a:chOff x="0" y="-38100"/>
            <a:chExt cx="5486400" cy="768350"/>
          </a:xfrm>
        </p:grpSpPr>
        <p:sp>
          <p:nvSpPr>
            <p:cNvPr id="159" name="Google Shape;159;p27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0" name="Google Shape;160;p27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700"/>
            </a:p>
          </p:txBody>
        </p:sp>
      </p:grpSp>
      <p:sp>
        <p:nvSpPr>
          <p:cNvPr id="161" name="Google Shape;161;p27"/>
          <p:cNvSpPr/>
          <p:nvPr/>
        </p:nvSpPr>
        <p:spPr>
          <a:xfrm>
            <a:off x="6597046" y="81225"/>
            <a:ext cx="2546961" cy="433133"/>
          </a:xfrm>
          <a:custGeom>
            <a:rect b="b" l="l" r="r" t="t"/>
            <a:pathLst>
              <a:path extrusionOk="0" h="1267079" w="7450836">
                <a:moveTo>
                  <a:pt x="0" y="0"/>
                </a:moveTo>
                <a:lnTo>
                  <a:pt x="7450836" y="0"/>
                </a:lnTo>
                <a:lnTo>
                  <a:pt x="7450836" y="1267079"/>
                </a:lnTo>
                <a:lnTo>
                  <a:pt x="0" y="1267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-16" r="-16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238125" y="37875"/>
            <a:ext cx="55044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PROBLEM STATEMENT:</a:t>
            </a:r>
            <a:endParaRPr sz="7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6138430" y="109986"/>
            <a:ext cx="3005566" cy="511111"/>
          </a:xfrm>
          <a:custGeom>
            <a:rect b="b" l="l" r="r" t="t"/>
            <a:pathLst>
              <a:path extrusionOk="0" h="1362964" w="8014843">
                <a:moveTo>
                  <a:pt x="0" y="0"/>
                </a:moveTo>
                <a:lnTo>
                  <a:pt x="8014843" y="0"/>
                </a:lnTo>
                <a:lnTo>
                  <a:pt x="8014843" y="1362964"/>
                </a:lnTo>
                <a:lnTo>
                  <a:pt x="0" y="1362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" l="0" r="0" t="-17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147588" y="4898743"/>
            <a:ext cx="8995219" cy="17907"/>
          </a:xfrm>
          <a:custGeom>
            <a:rect b="b" l="l" r="r" t="t"/>
            <a:pathLst>
              <a:path extrusionOk="0" h="47752" w="23987252">
                <a:moveTo>
                  <a:pt x="127" y="0"/>
                </a:moveTo>
                <a:lnTo>
                  <a:pt x="23987252" y="41275"/>
                </a:lnTo>
                <a:lnTo>
                  <a:pt x="23987252" y="47752"/>
                </a:lnTo>
                <a:lnTo>
                  <a:pt x="0" y="6477"/>
                </a:lnTo>
                <a:close/>
              </a:path>
            </a:pathLst>
          </a:custGeom>
          <a:solidFill>
            <a:srgbClr val="13508B">
              <a:alpha val="69803"/>
            </a:srgbClr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" name="Google Shape;165;p27"/>
          <p:cNvSpPr/>
          <p:nvPr/>
        </p:nvSpPr>
        <p:spPr>
          <a:xfrm>
            <a:off x="883500" y="1719700"/>
            <a:ext cx="7356900" cy="1748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EA8D0"/>
              </a:gs>
              <a:gs pos="100000">
                <a:srgbClr val="89A5D0"/>
              </a:gs>
            </a:gsLst>
            <a:lin ang="54007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delay in diagnosing skin diseases leads to severe health complications. There is need to develop a low-cost system that uses a standard camera as an IoT device to capture images, uses AI to analyze them, and provides immediate, accessible feedback (including medicine recommendations and voice-assisted reports) while keeping a doctor in the loop.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66" name="Google Shape;166;p27"/>
          <p:cNvCxnSpPr/>
          <p:nvPr/>
        </p:nvCxnSpPr>
        <p:spPr>
          <a:xfrm>
            <a:off x="0" y="745435"/>
            <a:ext cx="9144000" cy="0"/>
          </a:xfrm>
          <a:prstGeom prst="straightConnector1">
            <a:avLst/>
          </a:prstGeom>
          <a:noFill/>
          <a:ln cap="flat" cmpd="sng" w="317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28"/>
          <p:cNvGrpSpPr/>
          <p:nvPr/>
        </p:nvGrpSpPr>
        <p:grpSpPr>
          <a:xfrm>
            <a:off x="3018830" y="4889897"/>
            <a:ext cx="3086100" cy="288132"/>
            <a:chOff x="0" y="-38100"/>
            <a:chExt cx="8229600" cy="768350"/>
          </a:xfrm>
        </p:grpSpPr>
        <p:sp>
          <p:nvSpPr>
            <p:cNvPr id="172" name="Google Shape;172;p28"/>
            <p:cNvSpPr/>
            <p:nvPr/>
          </p:nvSpPr>
          <p:spPr>
            <a:xfrm>
              <a:off x="0" y="0"/>
              <a:ext cx="8229600" cy="730250"/>
            </a:xfrm>
            <a:custGeom>
              <a:rect b="b" l="l" r="r" t="t"/>
              <a:pathLst>
                <a:path extrusionOk="0"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3" name="Google Shape;173;p28"/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and Engineering</a:t>
              </a:r>
              <a:endParaRPr sz="700"/>
            </a:p>
          </p:txBody>
        </p:sp>
      </p:grpSp>
      <p:grpSp>
        <p:nvGrpSpPr>
          <p:cNvPr id="174" name="Google Shape;174;p28"/>
          <p:cNvGrpSpPr/>
          <p:nvPr/>
        </p:nvGrpSpPr>
        <p:grpSpPr>
          <a:xfrm>
            <a:off x="6438305" y="4889897"/>
            <a:ext cx="2057400" cy="288132"/>
            <a:chOff x="0" y="-38100"/>
            <a:chExt cx="5486400" cy="768350"/>
          </a:xfrm>
        </p:grpSpPr>
        <p:sp>
          <p:nvSpPr>
            <p:cNvPr id="175" name="Google Shape;175;p28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6" name="Google Shape;176;p28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700"/>
            </a:p>
          </p:txBody>
        </p:sp>
      </p:grpSp>
      <p:sp>
        <p:nvSpPr>
          <p:cNvPr id="177" name="Google Shape;177;p28"/>
          <p:cNvSpPr/>
          <p:nvPr/>
        </p:nvSpPr>
        <p:spPr>
          <a:xfrm>
            <a:off x="6597046" y="81225"/>
            <a:ext cx="2546961" cy="433133"/>
          </a:xfrm>
          <a:custGeom>
            <a:rect b="b" l="l" r="r" t="t"/>
            <a:pathLst>
              <a:path extrusionOk="0" h="1267079" w="7450836">
                <a:moveTo>
                  <a:pt x="0" y="0"/>
                </a:moveTo>
                <a:lnTo>
                  <a:pt x="7450836" y="0"/>
                </a:lnTo>
                <a:lnTo>
                  <a:pt x="7450836" y="1267079"/>
                </a:lnTo>
                <a:lnTo>
                  <a:pt x="0" y="1267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-16" r="-16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6138430" y="109986"/>
            <a:ext cx="3005566" cy="511111"/>
          </a:xfrm>
          <a:custGeom>
            <a:rect b="b" l="l" r="r" t="t"/>
            <a:pathLst>
              <a:path extrusionOk="0" h="1362964" w="8014843">
                <a:moveTo>
                  <a:pt x="0" y="0"/>
                </a:moveTo>
                <a:lnTo>
                  <a:pt x="8014843" y="0"/>
                </a:lnTo>
                <a:lnTo>
                  <a:pt x="8014843" y="1362964"/>
                </a:lnTo>
                <a:lnTo>
                  <a:pt x="0" y="1362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" l="0" r="0" t="-17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147588" y="4898743"/>
            <a:ext cx="8995219" cy="17907"/>
          </a:xfrm>
          <a:custGeom>
            <a:rect b="b" l="l" r="r" t="t"/>
            <a:pathLst>
              <a:path extrusionOk="0" h="47752" w="23987252">
                <a:moveTo>
                  <a:pt x="127" y="0"/>
                </a:moveTo>
                <a:lnTo>
                  <a:pt x="23987252" y="41275"/>
                </a:lnTo>
                <a:lnTo>
                  <a:pt x="23987252" y="47752"/>
                </a:lnTo>
                <a:lnTo>
                  <a:pt x="0" y="6477"/>
                </a:lnTo>
                <a:close/>
              </a:path>
            </a:pathLst>
          </a:custGeom>
          <a:solidFill>
            <a:srgbClr val="13508B">
              <a:alpha val="69803"/>
            </a:srgbClr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80" name="Google Shape;180;p28"/>
          <p:cNvCxnSpPr/>
          <p:nvPr/>
        </p:nvCxnSpPr>
        <p:spPr>
          <a:xfrm>
            <a:off x="0" y="745435"/>
            <a:ext cx="9144000" cy="0"/>
          </a:xfrm>
          <a:prstGeom prst="straightConnector1">
            <a:avLst/>
          </a:prstGeom>
          <a:noFill/>
          <a:ln cap="flat" cmpd="sng" w="317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8"/>
          <p:cNvSpPr txBox="1"/>
          <p:nvPr/>
        </p:nvSpPr>
        <p:spPr>
          <a:xfrm>
            <a:off x="1706241" y="2294705"/>
            <a:ext cx="557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Literature Survey</a:t>
            </a:r>
            <a:endParaRPr b="1" sz="3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29"/>
          <p:cNvGrpSpPr/>
          <p:nvPr/>
        </p:nvGrpSpPr>
        <p:grpSpPr>
          <a:xfrm>
            <a:off x="6438305" y="4889897"/>
            <a:ext cx="2057400" cy="288132"/>
            <a:chOff x="0" y="-38100"/>
            <a:chExt cx="5486400" cy="768350"/>
          </a:xfrm>
        </p:grpSpPr>
        <p:sp>
          <p:nvSpPr>
            <p:cNvPr id="187" name="Google Shape;187;p29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8" name="Google Shape;188;p29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700"/>
            </a:p>
          </p:txBody>
        </p:sp>
      </p:grpSp>
      <p:grpSp>
        <p:nvGrpSpPr>
          <p:cNvPr id="189" name="Google Shape;189;p29"/>
          <p:cNvGrpSpPr/>
          <p:nvPr/>
        </p:nvGrpSpPr>
        <p:grpSpPr>
          <a:xfrm>
            <a:off x="628650" y="4889897"/>
            <a:ext cx="2057400" cy="288132"/>
            <a:chOff x="0" y="-38100"/>
            <a:chExt cx="5486400" cy="768350"/>
          </a:xfrm>
        </p:grpSpPr>
        <p:sp>
          <p:nvSpPr>
            <p:cNvPr id="190" name="Google Shape;190;p29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1" name="Google Shape;191;p29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p29"/>
          <p:cNvSpPr txBox="1"/>
          <p:nvPr/>
        </p:nvSpPr>
        <p:spPr>
          <a:xfrm>
            <a:off x="628650" y="925988"/>
            <a:ext cx="7181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2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rgbClr val="980000"/>
                </a:solidFill>
                <a:highlight>
                  <a:srgbClr val="FFFFFF"/>
                </a:highlight>
                <a:latin typeface="Gill Sans"/>
                <a:ea typeface="Gill Sans"/>
                <a:cs typeface="Gill Sans"/>
                <a:sym typeface="Gill Sans"/>
              </a:rPr>
              <a:t>Title: Dermatologist-level classification of skin cancer with deep neural networks </a:t>
            </a:r>
            <a:endParaRPr sz="1700">
              <a:solidFill>
                <a:srgbClr val="980000"/>
              </a:solidFill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428625" y="1390725"/>
            <a:ext cx="3833700" cy="2880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246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Author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: Esteva, A., et al. (Nature 2017</a:t>
            </a:r>
            <a:r>
              <a:rPr lang="en" u="sng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4" name="Google Shape;194;p29"/>
          <p:cNvGrpSpPr/>
          <p:nvPr/>
        </p:nvGrpSpPr>
        <p:grpSpPr>
          <a:xfrm>
            <a:off x="64282" y="-26218"/>
            <a:ext cx="8023900" cy="749840"/>
            <a:chOff x="-365867" y="0"/>
            <a:chExt cx="21397067" cy="1999575"/>
          </a:xfrm>
        </p:grpSpPr>
        <p:sp>
          <p:nvSpPr>
            <p:cNvPr id="195" name="Google Shape;195;p29"/>
            <p:cNvSpPr/>
            <p:nvPr/>
          </p:nvSpPr>
          <p:spPr>
            <a:xfrm>
              <a:off x="0" y="0"/>
              <a:ext cx="21031200" cy="1835150"/>
            </a:xfrm>
            <a:custGeom>
              <a:rect b="b" l="l" r="r" t="t"/>
              <a:pathLst>
                <a:path extrusionOk="0"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6" name="Google Shape;196;p29"/>
            <p:cNvSpPr txBox="1"/>
            <p:nvPr/>
          </p:nvSpPr>
          <p:spPr>
            <a:xfrm>
              <a:off x="-365867" y="231075"/>
              <a:ext cx="21031200" cy="176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latin typeface="Gill Sans"/>
                  <a:ea typeface="Gill Sans"/>
                  <a:cs typeface="Gill Sans"/>
                  <a:sym typeface="Gill Sans"/>
                </a:rPr>
                <a:t>Literature</a:t>
              </a:r>
              <a:r>
                <a:rPr b="1" lang="en" sz="3000">
                  <a:latin typeface="Gill Sans"/>
                  <a:ea typeface="Gill Sans"/>
                  <a:cs typeface="Gill Sans"/>
                  <a:sym typeface="Gill Sans"/>
                </a:rPr>
                <a:t> Survey - 1 :</a:t>
              </a:r>
              <a:r>
                <a:rPr b="1" lang="en" sz="3000">
                  <a:solidFill>
                    <a:srgbClr val="000000"/>
                  </a:solidFill>
                  <a:latin typeface="Geo"/>
                  <a:ea typeface="Geo"/>
                  <a:cs typeface="Geo"/>
                  <a:sym typeface="Geo"/>
                </a:rPr>
                <a:t>  </a:t>
              </a:r>
              <a:endParaRPr sz="700"/>
            </a:p>
          </p:txBody>
        </p:sp>
      </p:grpSp>
      <p:sp>
        <p:nvSpPr>
          <p:cNvPr id="197" name="Google Shape;197;p29"/>
          <p:cNvSpPr/>
          <p:nvPr/>
        </p:nvSpPr>
        <p:spPr>
          <a:xfrm>
            <a:off x="147588" y="4898743"/>
            <a:ext cx="8995219" cy="17907"/>
          </a:xfrm>
          <a:custGeom>
            <a:rect b="b" l="l" r="r" t="t"/>
            <a:pathLst>
              <a:path extrusionOk="0" h="47752" w="23987252">
                <a:moveTo>
                  <a:pt x="127" y="0"/>
                </a:moveTo>
                <a:lnTo>
                  <a:pt x="23987252" y="41275"/>
                </a:lnTo>
                <a:lnTo>
                  <a:pt x="23987252" y="47752"/>
                </a:lnTo>
                <a:lnTo>
                  <a:pt x="0" y="6477"/>
                </a:lnTo>
                <a:close/>
              </a:path>
            </a:pathLst>
          </a:custGeom>
          <a:solidFill>
            <a:srgbClr val="13508B">
              <a:alpha val="69803"/>
            </a:srgbClr>
          </a:solidFill>
          <a:ln>
            <a:noFill/>
          </a:ln>
        </p:spPr>
      </p:sp>
      <p:grpSp>
        <p:nvGrpSpPr>
          <p:cNvPr id="198" name="Google Shape;198;p29"/>
          <p:cNvGrpSpPr/>
          <p:nvPr/>
        </p:nvGrpSpPr>
        <p:grpSpPr>
          <a:xfrm>
            <a:off x="3018830" y="4889897"/>
            <a:ext cx="3086100" cy="288132"/>
            <a:chOff x="0" y="-38100"/>
            <a:chExt cx="8229600" cy="768350"/>
          </a:xfrm>
        </p:grpSpPr>
        <p:sp>
          <p:nvSpPr>
            <p:cNvPr id="199" name="Google Shape;199;p29"/>
            <p:cNvSpPr/>
            <p:nvPr/>
          </p:nvSpPr>
          <p:spPr>
            <a:xfrm>
              <a:off x="0" y="0"/>
              <a:ext cx="8229600" cy="730250"/>
            </a:xfrm>
            <a:custGeom>
              <a:rect b="b" l="l" r="r" t="t"/>
              <a:pathLst>
                <a:path extrusionOk="0"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0" name="Google Shape;200;p29"/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and Engineering</a:t>
              </a:r>
              <a:endParaRPr sz="700"/>
            </a:p>
          </p:txBody>
        </p:sp>
      </p:grpSp>
      <p:sp>
        <p:nvSpPr>
          <p:cNvPr id="201" name="Google Shape;201;p29"/>
          <p:cNvSpPr/>
          <p:nvPr/>
        </p:nvSpPr>
        <p:spPr>
          <a:xfrm>
            <a:off x="6138430" y="109986"/>
            <a:ext cx="3005566" cy="511112"/>
          </a:xfrm>
          <a:custGeom>
            <a:rect b="b" l="l" r="r" t="t"/>
            <a:pathLst>
              <a:path extrusionOk="0" h="1362964" w="8014843">
                <a:moveTo>
                  <a:pt x="0" y="0"/>
                </a:moveTo>
                <a:lnTo>
                  <a:pt x="8014843" y="0"/>
                </a:lnTo>
                <a:lnTo>
                  <a:pt x="8014843" y="1362964"/>
                </a:lnTo>
                <a:lnTo>
                  <a:pt x="0" y="1362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" l="0" r="0" t="-20"/>
            </a:stretch>
          </a:blipFill>
          <a:ln>
            <a:noFill/>
          </a:ln>
        </p:spPr>
      </p:sp>
      <p:cxnSp>
        <p:nvCxnSpPr>
          <p:cNvPr id="202" name="Google Shape;202;p29"/>
          <p:cNvCxnSpPr/>
          <p:nvPr/>
        </p:nvCxnSpPr>
        <p:spPr>
          <a:xfrm>
            <a:off x="0" y="745435"/>
            <a:ext cx="9144000" cy="0"/>
          </a:xfrm>
          <a:prstGeom prst="straightConnector1">
            <a:avLst/>
          </a:prstGeom>
          <a:noFill/>
          <a:ln cap="flat" cmpd="sng" w="317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9"/>
          <p:cNvSpPr/>
          <p:nvPr/>
        </p:nvSpPr>
        <p:spPr>
          <a:xfrm>
            <a:off x="4572000" y="2676375"/>
            <a:ext cx="3991800" cy="1808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Research Gaps: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 The study primarily relied on high-quality, clinical-grade images captured in controlled environments. It lacked real-time smartphone integration, IoT workflow elements, and did not address real-world deployment challenges like blurry images or low lighting.</a:t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4" name="Google Shape;204;p29"/>
          <p:cNvSpPr/>
          <p:nvPr/>
        </p:nvSpPr>
        <p:spPr>
          <a:xfrm>
            <a:off x="4572000" y="1390725"/>
            <a:ext cx="3903600" cy="1087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Results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Achieved an Area Under the Curve (AUC) of 0.96 for carcinoma classification and 0.94 for melanoma classification on the proprietary dataset, matching the diagnostic accuracy of 21 board-certified dermatologists.</a:t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5" name="Google Shape;205;p29"/>
          <p:cNvSpPr/>
          <p:nvPr/>
        </p:nvSpPr>
        <p:spPr>
          <a:xfrm>
            <a:off x="428625" y="1927750"/>
            <a:ext cx="3833700" cy="7500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Dataset: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 Utilized a massive proprietary dataset of 129,450 clinical images covering 2,032 different skin diseases.</a:t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6" name="Google Shape;206;p29"/>
          <p:cNvSpPr/>
          <p:nvPr/>
        </p:nvSpPr>
        <p:spPr>
          <a:xfrm>
            <a:off x="428625" y="2926775"/>
            <a:ext cx="3903600" cy="15579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Methodology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: The authors employed transfer learning using a pre-trained Inception v3 Convolutional Neural Network (CNN) architecture. The model was trained end-to-end to classify skin lesions directly from images without any specialized feature extraction.</a:t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30"/>
          <p:cNvGrpSpPr/>
          <p:nvPr/>
        </p:nvGrpSpPr>
        <p:grpSpPr>
          <a:xfrm>
            <a:off x="6438305" y="4889897"/>
            <a:ext cx="2057400" cy="288131"/>
            <a:chOff x="0" y="-38100"/>
            <a:chExt cx="5486400" cy="768350"/>
          </a:xfrm>
        </p:grpSpPr>
        <p:sp>
          <p:nvSpPr>
            <p:cNvPr id="212" name="Google Shape;212;p30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3" name="Google Shape;213;p30"/>
            <p:cNvSpPr txBox="1"/>
            <p:nvPr/>
          </p:nvSpPr>
          <p:spPr>
            <a:xfrm>
              <a:off x="0" y="-38100"/>
              <a:ext cx="54864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700"/>
            </a:p>
          </p:txBody>
        </p:sp>
      </p:grpSp>
      <p:grpSp>
        <p:nvGrpSpPr>
          <p:cNvPr id="214" name="Google Shape;214;p30"/>
          <p:cNvGrpSpPr/>
          <p:nvPr/>
        </p:nvGrpSpPr>
        <p:grpSpPr>
          <a:xfrm>
            <a:off x="628650" y="4889897"/>
            <a:ext cx="2057400" cy="288131"/>
            <a:chOff x="0" y="-38100"/>
            <a:chExt cx="5486400" cy="768350"/>
          </a:xfrm>
        </p:grpSpPr>
        <p:sp>
          <p:nvSpPr>
            <p:cNvPr id="215" name="Google Shape;215;p30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6" name="Google Shape;216;p30"/>
            <p:cNvSpPr txBox="1"/>
            <p:nvPr/>
          </p:nvSpPr>
          <p:spPr>
            <a:xfrm>
              <a:off x="0" y="-38100"/>
              <a:ext cx="54864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30"/>
          <p:cNvSpPr txBox="1"/>
          <p:nvPr/>
        </p:nvSpPr>
        <p:spPr>
          <a:xfrm>
            <a:off x="594225" y="841325"/>
            <a:ext cx="7935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2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rgbClr val="980000"/>
                </a:solidFill>
                <a:highlight>
                  <a:srgbClr val="FFFFFF"/>
                </a:highlight>
                <a:latin typeface="Gill Sans"/>
                <a:ea typeface="Gill Sans"/>
                <a:cs typeface="Gill Sans"/>
                <a:sym typeface="Gill Sans"/>
              </a:rPr>
              <a:t>Title: </a:t>
            </a:r>
            <a:r>
              <a:rPr lang="en" sz="1500" u="sng">
                <a:solidFill>
                  <a:srgbClr val="980000"/>
                </a:solidFill>
              </a:rPr>
              <a:t>PAD-UFES-20: A skin lesion dataset composed of patient data and clinical images collected from smartphones</a:t>
            </a:r>
            <a:r>
              <a:rPr lang="en" sz="1700" u="sng">
                <a:solidFill>
                  <a:srgbClr val="980000"/>
                </a:solidFill>
                <a:highlight>
                  <a:srgbClr val="FFFFFF"/>
                </a:highlight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1700" u="sng">
              <a:solidFill>
                <a:srgbClr val="980000"/>
              </a:solidFill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428625" y="1390725"/>
            <a:ext cx="3833700" cy="2880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2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Author</a:t>
            </a:r>
            <a:r>
              <a:rPr lang="en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r>
              <a:rPr lang="en" sz="1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Pacheco, A. G., et al. (Data in Brief 2020)</a:t>
            </a:r>
            <a:endParaRPr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lnSpc>
                <a:spcPct val="82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30"/>
          <p:cNvGrpSpPr/>
          <p:nvPr/>
        </p:nvGrpSpPr>
        <p:grpSpPr>
          <a:xfrm>
            <a:off x="64282" y="-26218"/>
            <a:ext cx="8023900" cy="749841"/>
            <a:chOff x="-365867" y="0"/>
            <a:chExt cx="21397067" cy="1999575"/>
          </a:xfrm>
        </p:grpSpPr>
        <p:sp>
          <p:nvSpPr>
            <p:cNvPr id="220" name="Google Shape;220;p30"/>
            <p:cNvSpPr/>
            <p:nvPr/>
          </p:nvSpPr>
          <p:spPr>
            <a:xfrm>
              <a:off x="0" y="0"/>
              <a:ext cx="21031200" cy="1835150"/>
            </a:xfrm>
            <a:custGeom>
              <a:rect b="b" l="l" r="r" t="t"/>
              <a:pathLst>
                <a:path extrusionOk="0"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1" name="Google Shape;221;p30"/>
            <p:cNvSpPr txBox="1"/>
            <p:nvPr/>
          </p:nvSpPr>
          <p:spPr>
            <a:xfrm>
              <a:off x="-365867" y="231075"/>
              <a:ext cx="21031200" cy="176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latin typeface="Gill Sans"/>
                  <a:ea typeface="Gill Sans"/>
                  <a:cs typeface="Gill Sans"/>
                  <a:sym typeface="Gill Sans"/>
                </a:rPr>
                <a:t>Literature Survey - 2:</a:t>
              </a:r>
              <a:r>
                <a:rPr b="1" lang="en" sz="3000">
                  <a:solidFill>
                    <a:srgbClr val="000000"/>
                  </a:solidFill>
                  <a:latin typeface="Geo"/>
                  <a:ea typeface="Geo"/>
                  <a:cs typeface="Geo"/>
                  <a:sym typeface="Geo"/>
                </a:rPr>
                <a:t>  </a:t>
              </a:r>
              <a:endParaRPr sz="700"/>
            </a:p>
          </p:txBody>
        </p:sp>
      </p:grpSp>
      <p:sp>
        <p:nvSpPr>
          <p:cNvPr id="222" name="Google Shape;222;p30"/>
          <p:cNvSpPr/>
          <p:nvPr/>
        </p:nvSpPr>
        <p:spPr>
          <a:xfrm>
            <a:off x="147588" y="4898743"/>
            <a:ext cx="8995220" cy="17907"/>
          </a:xfrm>
          <a:custGeom>
            <a:rect b="b" l="l" r="r" t="t"/>
            <a:pathLst>
              <a:path extrusionOk="0" h="47752" w="23987252">
                <a:moveTo>
                  <a:pt x="127" y="0"/>
                </a:moveTo>
                <a:lnTo>
                  <a:pt x="23987252" y="41275"/>
                </a:lnTo>
                <a:lnTo>
                  <a:pt x="23987252" y="47752"/>
                </a:lnTo>
                <a:lnTo>
                  <a:pt x="0" y="6477"/>
                </a:lnTo>
                <a:close/>
              </a:path>
            </a:pathLst>
          </a:custGeom>
          <a:solidFill>
            <a:srgbClr val="13508B">
              <a:alpha val="69800"/>
            </a:srgbClr>
          </a:solidFill>
          <a:ln>
            <a:noFill/>
          </a:ln>
        </p:spPr>
      </p:sp>
      <p:grpSp>
        <p:nvGrpSpPr>
          <p:cNvPr id="223" name="Google Shape;223;p30"/>
          <p:cNvGrpSpPr/>
          <p:nvPr/>
        </p:nvGrpSpPr>
        <p:grpSpPr>
          <a:xfrm>
            <a:off x="3018830" y="4889897"/>
            <a:ext cx="3086100" cy="288131"/>
            <a:chOff x="0" y="-38100"/>
            <a:chExt cx="8229600" cy="768350"/>
          </a:xfrm>
        </p:grpSpPr>
        <p:sp>
          <p:nvSpPr>
            <p:cNvPr id="224" name="Google Shape;224;p30"/>
            <p:cNvSpPr/>
            <p:nvPr/>
          </p:nvSpPr>
          <p:spPr>
            <a:xfrm>
              <a:off x="0" y="0"/>
              <a:ext cx="8229600" cy="730250"/>
            </a:xfrm>
            <a:custGeom>
              <a:rect b="b" l="l" r="r" t="t"/>
              <a:pathLst>
                <a:path extrusionOk="0"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5" name="Google Shape;225;p30"/>
            <p:cNvSpPr txBox="1"/>
            <p:nvPr/>
          </p:nvSpPr>
          <p:spPr>
            <a:xfrm>
              <a:off x="0" y="-38100"/>
              <a:ext cx="82296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and Engineering</a:t>
              </a:r>
              <a:endParaRPr sz="700"/>
            </a:p>
          </p:txBody>
        </p:sp>
      </p:grpSp>
      <p:sp>
        <p:nvSpPr>
          <p:cNvPr id="226" name="Google Shape;226;p30"/>
          <p:cNvSpPr/>
          <p:nvPr/>
        </p:nvSpPr>
        <p:spPr>
          <a:xfrm>
            <a:off x="6138430" y="109986"/>
            <a:ext cx="3005566" cy="511112"/>
          </a:xfrm>
          <a:custGeom>
            <a:rect b="b" l="l" r="r" t="t"/>
            <a:pathLst>
              <a:path extrusionOk="0" h="1362964" w="8014843">
                <a:moveTo>
                  <a:pt x="0" y="0"/>
                </a:moveTo>
                <a:lnTo>
                  <a:pt x="8014843" y="0"/>
                </a:lnTo>
                <a:lnTo>
                  <a:pt x="8014843" y="1362964"/>
                </a:lnTo>
                <a:lnTo>
                  <a:pt x="0" y="1362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" l="0" r="0" t="-20"/>
            </a:stretch>
          </a:blipFill>
          <a:ln>
            <a:noFill/>
          </a:ln>
        </p:spPr>
      </p:sp>
      <p:cxnSp>
        <p:nvCxnSpPr>
          <p:cNvPr id="227" name="Google Shape;227;p30"/>
          <p:cNvCxnSpPr/>
          <p:nvPr/>
        </p:nvCxnSpPr>
        <p:spPr>
          <a:xfrm>
            <a:off x="0" y="745435"/>
            <a:ext cx="9144000" cy="0"/>
          </a:xfrm>
          <a:prstGeom prst="straightConnector1">
            <a:avLst/>
          </a:prstGeom>
          <a:noFill/>
          <a:ln cap="flat" cmpd="sng" w="317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30"/>
          <p:cNvSpPr/>
          <p:nvPr/>
        </p:nvSpPr>
        <p:spPr>
          <a:xfrm>
            <a:off x="4572000" y="3191613"/>
            <a:ext cx="3991800" cy="14181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Research Gaps: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paper focuses heavily on the dataset curation and baseline models. It does not present a complete remote healthcare architecture, patient feedback interface, or doctor-in-the-loop IoT feedback system.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4572000" y="1390725"/>
            <a:ext cx="3903600" cy="15207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Results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Using the PAD-UFES-20 dataset, the best baseline model (ResNet-50) achieved a balanced accuracy of 73% and an AUC of 0.85, highlighting the feasibility but showing a clear performance drop on uncalibrated smartphone images compared to clinical datasets.</a:t>
            </a:r>
            <a:endParaRPr sz="1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1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428625" y="1927750"/>
            <a:ext cx="3833700" cy="7500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Dataset: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PAD-UFES-20 (2,298 samples of 6 different types of skin lesions).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428625" y="2911513"/>
            <a:ext cx="3903600" cy="169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Methodology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researchers focused on the collection and baseline classification of skin lesions using images taken exclusively by smartphone cameras under varying real-world conditions. They evaluated several standard CNNs to establish baseline performance on this mobile-first data. Models Used are ResNet-50, VGG-16, MobileNet.</a:t>
            </a:r>
            <a:endParaRPr sz="1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31"/>
          <p:cNvGrpSpPr/>
          <p:nvPr/>
        </p:nvGrpSpPr>
        <p:grpSpPr>
          <a:xfrm>
            <a:off x="6438305" y="4889897"/>
            <a:ext cx="2057400" cy="288131"/>
            <a:chOff x="0" y="-38100"/>
            <a:chExt cx="5486400" cy="768350"/>
          </a:xfrm>
        </p:grpSpPr>
        <p:sp>
          <p:nvSpPr>
            <p:cNvPr id="237" name="Google Shape;237;p31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8" name="Google Shape;238;p31"/>
            <p:cNvSpPr txBox="1"/>
            <p:nvPr/>
          </p:nvSpPr>
          <p:spPr>
            <a:xfrm>
              <a:off x="0" y="-38100"/>
              <a:ext cx="54864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700"/>
            </a:p>
          </p:txBody>
        </p:sp>
      </p:grpSp>
      <p:grpSp>
        <p:nvGrpSpPr>
          <p:cNvPr id="239" name="Google Shape;239;p31"/>
          <p:cNvGrpSpPr/>
          <p:nvPr/>
        </p:nvGrpSpPr>
        <p:grpSpPr>
          <a:xfrm>
            <a:off x="628650" y="4889897"/>
            <a:ext cx="2057400" cy="288131"/>
            <a:chOff x="0" y="-38100"/>
            <a:chExt cx="5486400" cy="768350"/>
          </a:xfrm>
        </p:grpSpPr>
        <p:sp>
          <p:nvSpPr>
            <p:cNvPr id="240" name="Google Shape;240;p31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1" name="Google Shape;241;p31"/>
            <p:cNvSpPr txBox="1"/>
            <p:nvPr/>
          </p:nvSpPr>
          <p:spPr>
            <a:xfrm>
              <a:off x="0" y="-38100"/>
              <a:ext cx="54864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 txBox="1"/>
          <p:nvPr/>
        </p:nvSpPr>
        <p:spPr>
          <a:xfrm>
            <a:off x="628650" y="852225"/>
            <a:ext cx="7363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2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rgbClr val="980000"/>
                </a:solidFill>
                <a:highlight>
                  <a:srgbClr val="FFFFFF"/>
                </a:highlight>
                <a:latin typeface="Gill Sans"/>
                <a:ea typeface="Gill Sans"/>
                <a:cs typeface="Gill Sans"/>
                <a:sym typeface="Gill Sans"/>
              </a:rPr>
              <a:t>Title: </a:t>
            </a:r>
            <a:r>
              <a:rPr lang="en" sz="1700" u="sng">
                <a:solidFill>
                  <a:srgbClr val="980000"/>
                </a:solidFill>
                <a:latin typeface="Gill Sans"/>
                <a:ea typeface="Gill Sans"/>
                <a:cs typeface="Gill Sans"/>
                <a:sym typeface="Gill Sans"/>
              </a:rPr>
              <a:t>A Hybrid Generative AI and Edge-IoT Architecture for Accessible Skin Disease Monitoring</a:t>
            </a:r>
            <a:r>
              <a:rPr lang="en" sz="1700" u="sng">
                <a:solidFill>
                  <a:srgbClr val="980000"/>
                </a:solidFill>
              </a:rPr>
              <a:t> </a:t>
            </a:r>
            <a:r>
              <a:rPr lang="en" sz="1700" u="sng">
                <a:solidFill>
                  <a:srgbClr val="98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" sz="1700" u="sng">
                <a:solidFill>
                  <a:srgbClr val="980000"/>
                </a:solidFill>
                <a:highlight>
                  <a:srgbClr val="FFFFFF"/>
                </a:highlight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1700" u="sng">
              <a:solidFill>
                <a:srgbClr val="98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428625" y="1390725"/>
            <a:ext cx="3833700" cy="2880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2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Author</a:t>
            </a:r>
            <a:r>
              <a:rPr lang="en" sz="15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Chen, Y., et al. (Sensors / MDPI 2025)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lnSpc>
                <a:spcPct val="82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" name="Google Shape;244;p31"/>
          <p:cNvGrpSpPr/>
          <p:nvPr/>
        </p:nvGrpSpPr>
        <p:grpSpPr>
          <a:xfrm>
            <a:off x="64282" y="-26218"/>
            <a:ext cx="8023900" cy="749841"/>
            <a:chOff x="-365867" y="0"/>
            <a:chExt cx="21397067" cy="1999575"/>
          </a:xfrm>
        </p:grpSpPr>
        <p:sp>
          <p:nvSpPr>
            <p:cNvPr id="245" name="Google Shape;245;p31"/>
            <p:cNvSpPr/>
            <p:nvPr/>
          </p:nvSpPr>
          <p:spPr>
            <a:xfrm>
              <a:off x="0" y="0"/>
              <a:ext cx="21031200" cy="1835150"/>
            </a:xfrm>
            <a:custGeom>
              <a:rect b="b" l="l" r="r" t="t"/>
              <a:pathLst>
                <a:path extrusionOk="0"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6" name="Google Shape;246;p31"/>
            <p:cNvSpPr txBox="1"/>
            <p:nvPr/>
          </p:nvSpPr>
          <p:spPr>
            <a:xfrm>
              <a:off x="-365867" y="231075"/>
              <a:ext cx="21031200" cy="176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latin typeface="Gill Sans"/>
                  <a:ea typeface="Gill Sans"/>
                  <a:cs typeface="Gill Sans"/>
                  <a:sym typeface="Gill Sans"/>
                </a:rPr>
                <a:t>Literature Survey - 3:</a:t>
              </a:r>
              <a:r>
                <a:rPr b="1" lang="en" sz="3000">
                  <a:solidFill>
                    <a:srgbClr val="000000"/>
                  </a:solidFill>
                  <a:latin typeface="Geo"/>
                  <a:ea typeface="Geo"/>
                  <a:cs typeface="Geo"/>
                  <a:sym typeface="Geo"/>
                </a:rPr>
                <a:t>  </a:t>
              </a:r>
              <a:endParaRPr sz="700"/>
            </a:p>
          </p:txBody>
        </p:sp>
      </p:grpSp>
      <p:sp>
        <p:nvSpPr>
          <p:cNvPr id="247" name="Google Shape;247;p31"/>
          <p:cNvSpPr/>
          <p:nvPr/>
        </p:nvSpPr>
        <p:spPr>
          <a:xfrm>
            <a:off x="147588" y="4898743"/>
            <a:ext cx="8995220" cy="17907"/>
          </a:xfrm>
          <a:custGeom>
            <a:rect b="b" l="l" r="r" t="t"/>
            <a:pathLst>
              <a:path extrusionOk="0" h="47752" w="23987252">
                <a:moveTo>
                  <a:pt x="127" y="0"/>
                </a:moveTo>
                <a:lnTo>
                  <a:pt x="23987252" y="41275"/>
                </a:lnTo>
                <a:lnTo>
                  <a:pt x="23987252" y="47752"/>
                </a:lnTo>
                <a:lnTo>
                  <a:pt x="0" y="6477"/>
                </a:lnTo>
                <a:close/>
              </a:path>
            </a:pathLst>
          </a:custGeom>
          <a:solidFill>
            <a:srgbClr val="13508B">
              <a:alpha val="69800"/>
            </a:srgbClr>
          </a:solidFill>
          <a:ln>
            <a:noFill/>
          </a:ln>
        </p:spPr>
      </p:sp>
      <p:grpSp>
        <p:nvGrpSpPr>
          <p:cNvPr id="248" name="Google Shape;248;p31"/>
          <p:cNvGrpSpPr/>
          <p:nvPr/>
        </p:nvGrpSpPr>
        <p:grpSpPr>
          <a:xfrm>
            <a:off x="3018830" y="4889897"/>
            <a:ext cx="3086100" cy="288131"/>
            <a:chOff x="0" y="-38100"/>
            <a:chExt cx="8229600" cy="768350"/>
          </a:xfrm>
        </p:grpSpPr>
        <p:sp>
          <p:nvSpPr>
            <p:cNvPr id="249" name="Google Shape;249;p31"/>
            <p:cNvSpPr/>
            <p:nvPr/>
          </p:nvSpPr>
          <p:spPr>
            <a:xfrm>
              <a:off x="0" y="0"/>
              <a:ext cx="8229600" cy="730250"/>
            </a:xfrm>
            <a:custGeom>
              <a:rect b="b" l="l" r="r" t="t"/>
              <a:pathLst>
                <a:path extrusionOk="0"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0" name="Google Shape;250;p31"/>
            <p:cNvSpPr txBox="1"/>
            <p:nvPr/>
          </p:nvSpPr>
          <p:spPr>
            <a:xfrm>
              <a:off x="0" y="-38100"/>
              <a:ext cx="82296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and Engineering</a:t>
              </a:r>
              <a:endParaRPr sz="700"/>
            </a:p>
          </p:txBody>
        </p:sp>
      </p:grpSp>
      <p:sp>
        <p:nvSpPr>
          <p:cNvPr id="251" name="Google Shape;251;p31"/>
          <p:cNvSpPr/>
          <p:nvPr/>
        </p:nvSpPr>
        <p:spPr>
          <a:xfrm>
            <a:off x="6138430" y="109986"/>
            <a:ext cx="3005566" cy="511112"/>
          </a:xfrm>
          <a:custGeom>
            <a:rect b="b" l="l" r="r" t="t"/>
            <a:pathLst>
              <a:path extrusionOk="0" h="1362964" w="8014843">
                <a:moveTo>
                  <a:pt x="0" y="0"/>
                </a:moveTo>
                <a:lnTo>
                  <a:pt x="8014843" y="0"/>
                </a:lnTo>
                <a:lnTo>
                  <a:pt x="8014843" y="1362964"/>
                </a:lnTo>
                <a:lnTo>
                  <a:pt x="0" y="1362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" l="0" r="0" t="-20"/>
            </a:stretch>
          </a:blipFill>
          <a:ln>
            <a:noFill/>
          </a:ln>
        </p:spPr>
      </p:sp>
      <p:cxnSp>
        <p:nvCxnSpPr>
          <p:cNvPr id="252" name="Google Shape;252;p31"/>
          <p:cNvCxnSpPr/>
          <p:nvPr/>
        </p:nvCxnSpPr>
        <p:spPr>
          <a:xfrm>
            <a:off x="0" y="745435"/>
            <a:ext cx="9144000" cy="0"/>
          </a:xfrm>
          <a:prstGeom prst="straightConnector1">
            <a:avLst/>
          </a:prstGeom>
          <a:noFill/>
          <a:ln cap="flat" cmpd="sng" w="317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31"/>
          <p:cNvSpPr/>
          <p:nvPr/>
        </p:nvSpPr>
        <p:spPr>
          <a:xfrm>
            <a:off x="4527900" y="3054575"/>
            <a:ext cx="3991800" cy="14301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Research Gaps: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system relies heavily on a high-bandwidth connection to constantly query the heavy LLM backend for report generation, which can be a severe network bottleneck in remote rural areas with poor 3G/4G connectivity.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4" name="Google Shape;254;p31"/>
          <p:cNvSpPr/>
          <p:nvPr/>
        </p:nvSpPr>
        <p:spPr>
          <a:xfrm>
            <a:off x="4572000" y="1390725"/>
            <a:ext cx="3903600" cy="14097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Results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vision model achieved a classification accuracy of 91.8% and an F1-score of 0.90 on the combined mobile dataset. The generative component successfully summarized complex clinical jargon into patient-readable text in 98% of test cases.</a:t>
            </a:r>
            <a:r>
              <a:rPr lang="en" sz="1100">
                <a:solidFill>
                  <a:schemeClr val="dk1"/>
                </a:solidFill>
              </a:rPr>
              <a:t>  </a:t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5" name="Google Shape;255;p31"/>
          <p:cNvSpPr/>
          <p:nvPr/>
        </p:nvSpPr>
        <p:spPr>
          <a:xfrm>
            <a:off x="428625" y="1927750"/>
            <a:ext cx="3833700" cy="7500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Dataset: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PAD-UFES-20 and HAM10000 (Combined dataset of ~12,000 images).</a:t>
            </a:r>
            <a:endParaRPr sz="1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6" name="Google Shape;256;p31"/>
          <p:cNvSpPr/>
          <p:nvPr/>
        </p:nvSpPr>
        <p:spPr>
          <a:xfrm>
            <a:off x="428625" y="2926775"/>
            <a:ext cx="3903600" cy="15579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Methodology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lang="en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r>
              <a:rPr lang="en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Developed a novel end-to-end IoT architecture that uses EfficientNet for skin disease classification via smartphone cameras and integrates Generative AI (LLMs) to produce patient-friendly diagnostic summaries. Models used, EfficientNet-B0 (Vision), LLaMA-based LLM (Generative Text).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32"/>
          <p:cNvGrpSpPr/>
          <p:nvPr/>
        </p:nvGrpSpPr>
        <p:grpSpPr>
          <a:xfrm>
            <a:off x="6438305" y="4889897"/>
            <a:ext cx="2057400" cy="288131"/>
            <a:chOff x="0" y="-38100"/>
            <a:chExt cx="5486400" cy="768350"/>
          </a:xfrm>
        </p:grpSpPr>
        <p:sp>
          <p:nvSpPr>
            <p:cNvPr id="262" name="Google Shape;262;p32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3" name="Google Shape;263;p32"/>
            <p:cNvSpPr txBox="1"/>
            <p:nvPr/>
          </p:nvSpPr>
          <p:spPr>
            <a:xfrm>
              <a:off x="0" y="-38100"/>
              <a:ext cx="54864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700"/>
            </a:p>
          </p:txBody>
        </p:sp>
      </p:grpSp>
      <p:grpSp>
        <p:nvGrpSpPr>
          <p:cNvPr id="264" name="Google Shape;264;p32"/>
          <p:cNvGrpSpPr/>
          <p:nvPr/>
        </p:nvGrpSpPr>
        <p:grpSpPr>
          <a:xfrm>
            <a:off x="628650" y="4889897"/>
            <a:ext cx="2057400" cy="288131"/>
            <a:chOff x="0" y="-38100"/>
            <a:chExt cx="5486400" cy="768350"/>
          </a:xfrm>
        </p:grpSpPr>
        <p:sp>
          <p:nvSpPr>
            <p:cNvPr id="265" name="Google Shape;265;p32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6" name="Google Shape;266;p32"/>
            <p:cNvSpPr txBox="1"/>
            <p:nvPr/>
          </p:nvSpPr>
          <p:spPr>
            <a:xfrm>
              <a:off x="0" y="-38100"/>
              <a:ext cx="54864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p32"/>
          <p:cNvSpPr txBox="1"/>
          <p:nvPr/>
        </p:nvSpPr>
        <p:spPr>
          <a:xfrm>
            <a:off x="628650" y="926000"/>
            <a:ext cx="74595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2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rgbClr val="980000"/>
                </a:solidFill>
                <a:highlight>
                  <a:srgbClr val="FFFFFF"/>
                </a:highlight>
                <a:latin typeface="Gill Sans"/>
                <a:ea typeface="Gill Sans"/>
                <a:cs typeface="Gill Sans"/>
                <a:sym typeface="Gill Sans"/>
              </a:rPr>
              <a:t>Title: </a:t>
            </a:r>
            <a:r>
              <a:rPr lang="en" sz="1600" u="sng">
                <a:solidFill>
                  <a:srgbClr val="980000"/>
                </a:solidFill>
                <a:latin typeface="Gill Sans"/>
                <a:ea typeface="Gill Sans"/>
                <a:cs typeface="Gill Sans"/>
                <a:sym typeface="Gill Sans"/>
              </a:rPr>
              <a:t>Real-Time Edge Computing Framework for Skin Lesion Classification Using IoT and Lightweight CNNs </a:t>
            </a:r>
            <a:endParaRPr sz="1600" u="sng">
              <a:solidFill>
                <a:srgbClr val="98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8" name="Google Shape;268;p32"/>
          <p:cNvSpPr/>
          <p:nvPr/>
        </p:nvSpPr>
        <p:spPr>
          <a:xfrm>
            <a:off x="440800" y="1576775"/>
            <a:ext cx="3833700" cy="4188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2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Author</a:t>
            </a:r>
            <a:r>
              <a:rPr lang="en" sz="15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Al-Masri, E., et al. (IEEE Internet of Things Journal 2024)</a:t>
            </a:r>
            <a:endParaRPr sz="1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lnSpc>
                <a:spcPct val="82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lnSpc>
                <a:spcPct val="82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9" name="Google Shape;269;p32"/>
          <p:cNvGrpSpPr/>
          <p:nvPr/>
        </p:nvGrpSpPr>
        <p:grpSpPr>
          <a:xfrm>
            <a:off x="64282" y="-26218"/>
            <a:ext cx="8023900" cy="749841"/>
            <a:chOff x="-365867" y="0"/>
            <a:chExt cx="21397067" cy="1999575"/>
          </a:xfrm>
        </p:grpSpPr>
        <p:sp>
          <p:nvSpPr>
            <p:cNvPr id="270" name="Google Shape;270;p32"/>
            <p:cNvSpPr/>
            <p:nvPr/>
          </p:nvSpPr>
          <p:spPr>
            <a:xfrm>
              <a:off x="0" y="0"/>
              <a:ext cx="21031200" cy="1835150"/>
            </a:xfrm>
            <a:custGeom>
              <a:rect b="b" l="l" r="r" t="t"/>
              <a:pathLst>
                <a:path extrusionOk="0"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1" name="Google Shape;271;p32"/>
            <p:cNvSpPr txBox="1"/>
            <p:nvPr/>
          </p:nvSpPr>
          <p:spPr>
            <a:xfrm>
              <a:off x="-365867" y="231075"/>
              <a:ext cx="21031200" cy="176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latin typeface="Gill Sans"/>
                  <a:ea typeface="Gill Sans"/>
                  <a:cs typeface="Gill Sans"/>
                  <a:sym typeface="Gill Sans"/>
                </a:rPr>
                <a:t>Literature Survey - 4 :</a:t>
              </a:r>
              <a:r>
                <a:rPr b="1" lang="en" sz="3000">
                  <a:solidFill>
                    <a:srgbClr val="000000"/>
                  </a:solidFill>
                  <a:latin typeface="Geo"/>
                  <a:ea typeface="Geo"/>
                  <a:cs typeface="Geo"/>
                  <a:sym typeface="Geo"/>
                </a:rPr>
                <a:t>  </a:t>
              </a:r>
              <a:endParaRPr sz="700"/>
            </a:p>
          </p:txBody>
        </p:sp>
      </p:grpSp>
      <p:sp>
        <p:nvSpPr>
          <p:cNvPr id="272" name="Google Shape;272;p32"/>
          <p:cNvSpPr/>
          <p:nvPr/>
        </p:nvSpPr>
        <p:spPr>
          <a:xfrm>
            <a:off x="147588" y="4898743"/>
            <a:ext cx="8995220" cy="17907"/>
          </a:xfrm>
          <a:custGeom>
            <a:rect b="b" l="l" r="r" t="t"/>
            <a:pathLst>
              <a:path extrusionOk="0" h="47752" w="23987252">
                <a:moveTo>
                  <a:pt x="127" y="0"/>
                </a:moveTo>
                <a:lnTo>
                  <a:pt x="23987252" y="41275"/>
                </a:lnTo>
                <a:lnTo>
                  <a:pt x="23987252" y="47752"/>
                </a:lnTo>
                <a:lnTo>
                  <a:pt x="0" y="6477"/>
                </a:lnTo>
                <a:close/>
              </a:path>
            </a:pathLst>
          </a:custGeom>
          <a:solidFill>
            <a:srgbClr val="13508B">
              <a:alpha val="69800"/>
            </a:srgbClr>
          </a:solidFill>
          <a:ln>
            <a:noFill/>
          </a:ln>
        </p:spPr>
      </p:sp>
      <p:grpSp>
        <p:nvGrpSpPr>
          <p:cNvPr id="273" name="Google Shape;273;p32"/>
          <p:cNvGrpSpPr/>
          <p:nvPr/>
        </p:nvGrpSpPr>
        <p:grpSpPr>
          <a:xfrm>
            <a:off x="3018830" y="4889897"/>
            <a:ext cx="3086100" cy="288131"/>
            <a:chOff x="0" y="-38100"/>
            <a:chExt cx="8229600" cy="768350"/>
          </a:xfrm>
        </p:grpSpPr>
        <p:sp>
          <p:nvSpPr>
            <p:cNvPr id="274" name="Google Shape;274;p32"/>
            <p:cNvSpPr/>
            <p:nvPr/>
          </p:nvSpPr>
          <p:spPr>
            <a:xfrm>
              <a:off x="0" y="0"/>
              <a:ext cx="8229600" cy="730250"/>
            </a:xfrm>
            <a:custGeom>
              <a:rect b="b" l="l" r="r" t="t"/>
              <a:pathLst>
                <a:path extrusionOk="0"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5" name="Google Shape;275;p32"/>
            <p:cNvSpPr txBox="1"/>
            <p:nvPr/>
          </p:nvSpPr>
          <p:spPr>
            <a:xfrm>
              <a:off x="0" y="-38100"/>
              <a:ext cx="82296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and Engineering</a:t>
              </a:r>
              <a:endParaRPr sz="700"/>
            </a:p>
          </p:txBody>
        </p:sp>
      </p:grpSp>
      <p:sp>
        <p:nvSpPr>
          <p:cNvPr id="276" name="Google Shape;276;p32"/>
          <p:cNvSpPr/>
          <p:nvPr/>
        </p:nvSpPr>
        <p:spPr>
          <a:xfrm>
            <a:off x="6138430" y="109986"/>
            <a:ext cx="3005566" cy="511112"/>
          </a:xfrm>
          <a:custGeom>
            <a:rect b="b" l="l" r="r" t="t"/>
            <a:pathLst>
              <a:path extrusionOk="0" h="1362964" w="8014843">
                <a:moveTo>
                  <a:pt x="0" y="0"/>
                </a:moveTo>
                <a:lnTo>
                  <a:pt x="8014843" y="0"/>
                </a:lnTo>
                <a:lnTo>
                  <a:pt x="8014843" y="1362964"/>
                </a:lnTo>
                <a:lnTo>
                  <a:pt x="0" y="1362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" l="0" r="0" t="-20"/>
            </a:stretch>
          </a:blipFill>
          <a:ln>
            <a:noFill/>
          </a:ln>
        </p:spPr>
      </p:sp>
      <p:cxnSp>
        <p:nvCxnSpPr>
          <p:cNvPr id="277" name="Google Shape;277;p32"/>
          <p:cNvCxnSpPr/>
          <p:nvPr/>
        </p:nvCxnSpPr>
        <p:spPr>
          <a:xfrm>
            <a:off x="0" y="745435"/>
            <a:ext cx="9144000" cy="0"/>
          </a:xfrm>
          <a:prstGeom prst="straightConnector1">
            <a:avLst/>
          </a:prstGeom>
          <a:noFill/>
          <a:ln cap="flat" cmpd="sng" w="317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32"/>
          <p:cNvSpPr/>
          <p:nvPr/>
        </p:nvSpPr>
        <p:spPr>
          <a:xfrm>
            <a:off x="4584175" y="2862425"/>
            <a:ext cx="3991800" cy="16941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Research Gaps: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While latency is incredibly low, the system operates purely as an open-loop diagnostic tool without human oversight. It lacks a cloud-based "Doctor-in-the-loop" validation dashboard and patient-centric accessibility features like voice reporting.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3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9" name="Google Shape;279;p32"/>
          <p:cNvSpPr/>
          <p:nvPr/>
        </p:nvSpPr>
        <p:spPr>
          <a:xfrm>
            <a:off x="4584175" y="1576775"/>
            <a:ext cx="3903600" cy="1087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Results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Achieved an accuracy of 94.2%, sensitivity of 92.5%, and specificity of 95.1% on the mixed dataset. The edge-deployment reduced inference latency to under 150ms on mobile devices.</a:t>
            </a:r>
            <a:r>
              <a:rPr lang="en" sz="1100">
                <a:solidFill>
                  <a:schemeClr val="dk1"/>
                </a:solidFill>
              </a:rPr>
              <a:t>  </a:t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0" name="Google Shape;280;p32"/>
          <p:cNvSpPr/>
          <p:nvPr/>
        </p:nvSpPr>
        <p:spPr>
          <a:xfrm>
            <a:off x="440800" y="2113800"/>
            <a:ext cx="3833700" cy="7500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Dataset: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ISIC 2020 mixed with a custom diverse skin-tone dataset (15,000 images total).</a:t>
            </a:r>
            <a:endParaRPr sz="1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1" name="Google Shape;281;p32"/>
          <p:cNvSpPr/>
          <p:nvPr/>
        </p:nvSpPr>
        <p:spPr>
          <a:xfrm>
            <a:off x="440800" y="3112825"/>
            <a:ext cx="3903600" cy="15579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Methodology</a:t>
            </a:r>
            <a:r>
              <a:rPr lang="en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Proposed an edge-intelligence framework where lightweight deep learning models are deployed directly onto low-computing IoT devices (smartphones). It combined MobileNetV3 with an optimization algorithm for efficient feature extraction without relying on constant cloud connectivity.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 txBox="1"/>
          <p:nvPr/>
        </p:nvSpPr>
        <p:spPr>
          <a:xfrm>
            <a:off x="219075" y="33950"/>
            <a:ext cx="37362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SzPts val="1100"/>
              <a:buNone/>
            </a:pPr>
            <a:r>
              <a:rPr b="1" lang="en" sz="33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Research Gaps</a:t>
            </a:r>
            <a:r>
              <a:rPr b="1" lang="en" sz="33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endParaRPr b="1" sz="33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7" name="Google Shape;287;p33"/>
          <p:cNvSpPr/>
          <p:nvPr/>
        </p:nvSpPr>
        <p:spPr>
          <a:xfrm>
            <a:off x="138063" y="4898743"/>
            <a:ext cx="8995219" cy="17907"/>
          </a:xfrm>
          <a:custGeom>
            <a:rect b="b" l="l" r="r" t="t"/>
            <a:pathLst>
              <a:path extrusionOk="0" h="47752" w="23987252">
                <a:moveTo>
                  <a:pt x="127" y="0"/>
                </a:moveTo>
                <a:lnTo>
                  <a:pt x="23987252" y="41275"/>
                </a:lnTo>
                <a:lnTo>
                  <a:pt x="23987252" y="47752"/>
                </a:lnTo>
                <a:lnTo>
                  <a:pt x="0" y="6477"/>
                </a:lnTo>
                <a:close/>
              </a:path>
            </a:pathLst>
          </a:custGeom>
          <a:solidFill>
            <a:srgbClr val="13508B">
              <a:alpha val="69803"/>
            </a:srgbClr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88" name="Google Shape;288;p33"/>
          <p:cNvGrpSpPr/>
          <p:nvPr/>
        </p:nvGrpSpPr>
        <p:grpSpPr>
          <a:xfrm>
            <a:off x="3018830" y="4889897"/>
            <a:ext cx="3086100" cy="288132"/>
            <a:chOff x="0" y="-38100"/>
            <a:chExt cx="8229600" cy="768350"/>
          </a:xfrm>
        </p:grpSpPr>
        <p:sp>
          <p:nvSpPr>
            <p:cNvPr id="289" name="Google Shape;289;p33"/>
            <p:cNvSpPr/>
            <p:nvPr/>
          </p:nvSpPr>
          <p:spPr>
            <a:xfrm>
              <a:off x="0" y="0"/>
              <a:ext cx="8229600" cy="730250"/>
            </a:xfrm>
            <a:custGeom>
              <a:rect b="b" l="l" r="r" t="t"/>
              <a:pathLst>
                <a:path extrusionOk="0"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90" name="Google Shape;290;p33"/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and Engineering</a:t>
              </a:r>
              <a:endParaRPr sz="700"/>
            </a:p>
          </p:txBody>
        </p:sp>
      </p:grpSp>
      <p:sp>
        <p:nvSpPr>
          <p:cNvPr id="291" name="Google Shape;291;p33"/>
          <p:cNvSpPr/>
          <p:nvPr/>
        </p:nvSpPr>
        <p:spPr>
          <a:xfrm>
            <a:off x="6138430" y="109986"/>
            <a:ext cx="3005566" cy="511111"/>
          </a:xfrm>
          <a:custGeom>
            <a:rect b="b" l="l" r="r" t="t"/>
            <a:pathLst>
              <a:path extrusionOk="0" h="1362964" w="8014843">
                <a:moveTo>
                  <a:pt x="0" y="0"/>
                </a:moveTo>
                <a:lnTo>
                  <a:pt x="8014843" y="0"/>
                </a:lnTo>
                <a:lnTo>
                  <a:pt x="8014843" y="1362964"/>
                </a:lnTo>
                <a:lnTo>
                  <a:pt x="0" y="1362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" l="0" r="0" t="-17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92" name="Google Shape;292;p33"/>
          <p:cNvCxnSpPr/>
          <p:nvPr/>
        </p:nvCxnSpPr>
        <p:spPr>
          <a:xfrm>
            <a:off x="0" y="745435"/>
            <a:ext cx="9144000" cy="0"/>
          </a:xfrm>
          <a:prstGeom prst="straightConnector1">
            <a:avLst/>
          </a:prstGeom>
          <a:noFill/>
          <a:ln cap="flat" cmpd="sng" w="317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33"/>
          <p:cNvSpPr/>
          <p:nvPr/>
        </p:nvSpPr>
        <p:spPr>
          <a:xfrm>
            <a:off x="581900" y="1069806"/>
            <a:ext cx="75783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94" name="Google Shape;294;p33"/>
          <p:cNvSpPr txBox="1"/>
          <p:nvPr/>
        </p:nvSpPr>
        <p:spPr>
          <a:xfrm>
            <a:off x="219075" y="892250"/>
            <a:ext cx="8668200" cy="3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➢"/>
            </a:pPr>
            <a:r>
              <a:rPr lang="en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Over-reliance on perfectly calibrated clinical dermoscopes, failing to address the visual noise of standard smartphone cameras at the IoT edge.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➢"/>
            </a:pPr>
            <a:r>
              <a:rPr lang="en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Poor baseline model performance and domain shift when clinical AI models are tested on unassisted, real-world mobile images.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➢"/>
            </a:pPr>
            <a:r>
              <a:rPr lang="en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Imbalanced IoT topologies that either operate entirely offline or rely on heavy, high-latency cloud backends for analysis.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➢"/>
            </a:pPr>
            <a:r>
              <a:rPr lang="en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Use of bandwidth-heavy methods for patient accessibility, making them unsuitable for rural areas with limited 3G/4G connectivity.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Gill Sans"/>
              <a:buChar char="➢"/>
            </a:pPr>
            <a:r>
              <a:rPr lang="en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Absence of a centralized "Doctor-in-the-loop" dashboard, where fully automated edge-AI systems bypass crucial medical oversight.</a:t>
            </a:r>
            <a:endParaRPr sz="16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4"/>
          <p:cNvSpPr txBox="1"/>
          <p:nvPr/>
        </p:nvSpPr>
        <p:spPr>
          <a:xfrm>
            <a:off x="219075" y="33950"/>
            <a:ext cx="37362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OBJECTIVES: </a:t>
            </a:r>
            <a:endParaRPr sz="7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0" name="Google Shape;300;p34"/>
          <p:cNvSpPr/>
          <p:nvPr/>
        </p:nvSpPr>
        <p:spPr>
          <a:xfrm>
            <a:off x="138063" y="4898743"/>
            <a:ext cx="8995220" cy="17907"/>
          </a:xfrm>
          <a:custGeom>
            <a:rect b="b" l="l" r="r" t="t"/>
            <a:pathLst>
              <a:path extrusionOk="0" h="47752" w="23987252">
                <a:moveTo>
                  <a:pt x="127" y="0"/>
                </a:moveTo>
                <a:lnTo>
                  <a:pt x="23987252" y="41275"/>
                </a:lnTo>
                <a:lnTo>
                  <a:pt x="23987252" y="47752"/>
                </a:lnTo>
                <a:lnTo>
                  <a:pt x="0" y="6477"/>
                </a:lnTo>
                <a:close/>
              </a:path>
            </a:pathLst>
          </a:custGeom>
          <a:solidFill>
            <a:srgbClr val="13508B">
              <a:alpha val="69800"/>
            </a:srgbClr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01" name="Google Shape;301;p34"/>
          <p:cNvGrpSpPr/>
          <p:nvPr/>
        </p:nvGrpSpPr>
        <p:grpSpPr>
          <a:xfrm>
            <a:off x="3018830" y="4889897"/>
            <a:ext cx="3086100" cy="288131"/>
            <a:chOff x="0" y="-38100"/>
            <a:chExt cx="8229600" cy="768350"/>
          </a:xfrm>
        </p:grpSpPr>
        <p:sp>
          <p:nvSpPr>
            <p:cNvPr id="302" name="Google Shape;302;p34"/>
            <p:cNvSpPr/>
            <p:nvPr/>
          </p:nvSpPr>
          <p:spPr>
            <a:xfrm>
              <a:off x="0" y="0"/>
              <a:ext cx="8229600" cy="730250"/>
            </a:xfrm>
            <a:custGeom>
              <a:rect b="b" l="l" r="r" t="t"/>
              <a:pathLst>
                <a:path extrusionOk="0"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03" name="Google Shape;303;p34"/>
            <p:cNvSpPr txBox="1"/>
            <p:nvPr/>
          </p:nvSpPr>
          <p:spPr>
            <a:xfrm>
              <a:off x="0" y="-38100"/>
              <a:ext cx="82296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and Engineering</a:t>
              </a:r>
              <a:endParaRPr sz="700"/>
            </a:p>
          </p:txBody>
        </p:sp>
      </p:grpSp>
      <p:sp>
        <p:nvSpPr>
          <p:cNvPr id="304" name="Google Shape;304;p34"/>
          <p:cNvSpPr/>
          <p:nvPr/>
        </p:nvSpPr>
        <p:spPr>
          <a:xfrm>
            <a:off x="6138430" y="109986"/>
            <a:ext cx="3005566" cy="511112"/>
          </a:xfrm>
          <a:custGeom>
            <a:rect b="b" l="l" r="r" t="t"/>
            <a:pathLst>
              <a:path extrusionOk="0" h="1362964" w="8014843">
                <a:moveTo>
                  <a:pt x="0" y="0"/>
                </a:moveTo>
                <a:lnTo>
                  <a:pt x="8014843" y="0"/>
                </a:lnTo>
                <a:lnTo>
                  <a:pt x="8014843" y="1362964"/>
                </a:lnTo>
                <a:lnTo>
                  <a:pt x="0" y="1362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" l="0" r="0" t="-2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05" name="Google Shape;305;p34"/>
          <p:cNvCxnSpPr/>
          <p:nvPr/>
        </p:nvCxnSpPr>
        <p:spPr>
          <a:xfrm>
            <a:off x="0" y="745435"/>
            <a:ext cx="9144000" cy="0"/>
          </a:xfrm>
          <a:prstGeom prst="straightConnector1">
            <a:avLst/>
          </a:prstGeom>
          <a:noFill/>
          <a:ln cap="flat" cmpd="sng" w="317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34"/>
          <p:cNvSpPr/>
          <p:nvPr/>
        </p:nvSpPr>
        <p:spPr>
          <a:xfrm>
            <a:off x="581900" y="1069806"/>
            <a:ext cx="75783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07" name="Google Shape;307;p34"/>
          <p:cNvSpPr txBox="1"/>
          <p:nvPr/>
        </p:nvSpPr>
        <p:spPr>
          <a:xfrm>
            <a:off x="227775" y="793600"/>
            <a:ext cx="86682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Gill Sans"/>
              <a:buChar char="➢"/>
            </a:pPr>
            <a:r>
              <a:rPr lang="en" sz="18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Develop an accessible remote screening system utilizing a standard smartphone camera as the primary IoT device.</a:t>
            </a:r>
            <a:endParaRPr sz="16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Gill Sans"/>
              <a:buChar char="➢"/>
            </a:pPr>
            <a:r>
              <a:rPr lang="en" sz="18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Implement an AI vision model capable of classifying skin diseases from unassisted, real-world smartphone images.</a:t>
            </a:r>
            <a:endParaRPr sz="18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Gill Sans"/>
              <a:buChar char="➢"/>
            </a:pPr>
            <a:r>
              <a:rPr lang="en" sz="18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Build a seamless backend pipeline that receives images, processes them through the model, and returns actionable insights.</a:t>
            </a:r>
            <a:endParaRPr sz="18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Gill Sans"/>
              <a:buChar char="➢"/>
            </a:pPr>
            <a:r>
              <a:rPr lang="en" sz="18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Create a user-friendly frontend for patients that not only displays the predicted disease and recommended medicines but also features voice-assisted reading of the report.</a:t>
            </a:r>
            <a:endParaRPr sz="18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Clr>
                <a:srgbClr val="24292E"/>
              </a:buClr>
              <a:buSzPts val="1800"/>
              <a:buFont typeface="Gill Sans"/>
              <a:buChar char="➢"/>
            </a:pPr>
            <a:r>
              <a:rPr lang="en" sz="18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Develop a Doctor Dashboard to review patient cases, ensuring safe, doctor-in-the-loop final decision making.</a:t>
            </a:r>
            <a:endParaRPr sz="2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 txBox="1"/>
          <p:nvPr/>
        </p:nvSpPr>
        <p:spPr>
          <a:xfrm>
            <a:off x="138078" y="82250"/>
            <a:ext cx="57948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DATASET DESCRIPTION: </a:t>
            </a:r>
            <a:endParaRPr sz="7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3" name="Google Shape;313;p35"/>
          <p:cNvSpPr/>
          <p:nvPr/>
        </p:nvSpPr>
        <p:spPr>
          <a:xfrm>
            <a:off x="138063" y="4898743"/>
            <a:ext cx="8995219" cy="17907"/>
          </a:xfrm>
          <a:custGeom>
            <a:rect b="b" l="l" r="r" t="t"/>
            <a:pathLst>
              <a:path extrusionOk="0" h="47752" w="23987252">
                <a:moveTo>
                  <a:pt x="127" y="0"/>
                </a:moveTo>
                <a:lnTo>
                  <a:pt x="23987252" y="41275"/>
                </a:lnTo>
                <a:lnTo>
                  <a:pt x="23987252" y="47752"/>
                </a:lnTo>
                <a:lnTo>
                  <a:pt x="0" y="6477"/>
                </a:lnTo>
                <a:close/>
              </a:path>
            </a:pathLst>
          </a:custGeom>
          <a:solidFill>
            <a:srgbClr val="13508B">
              <a:alpha val="69803"/>
            </a:srgbClr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14" name="Google Shape;314;p35"/>
          <p:cNvGrpSpPr/>
          <p:nvPr/>
        </p:nvGrpSpPr>
        <p:grpSpPr>
          <a:xfrm>
            <a:off x="3018830" y="4889897"/>
            <a:ext cx="3086100" cy="288132"/>
            <a:chOff x="0" y="-38100"/>
            <a:chExt cx="8229600" cy="768350"/>
          </a:xfrm>
        </p:grpSpPr>
        <p:sp>
          <p:nvSpPr>
            <p:cNvPr id="315" name="Google Shape;315;p35"/>
            <p:cNvSpPr/>
            <p:nvPr/>
          </p:nvSpPr>
          <p:spPr>
            <a:xfrm>
              <a:off x="0" y="0"/>
              <a:ext cx="8229600" cy="730250"/>
            </a:xfrm>
            <a:custGeom>
              <a:rect b="b" l="l" r="r" t="t"/>
              <a:pathLst>
                <a:path extrusionOk="0"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16" name="Google Shape;316;p35"/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and Engineering</a:t>
              </a:r>
              <a:endParaRPr sz="700"/>
            </a:p>
          </p:txBody>
        </p:sp>
      </p:grpSp>
      <p:sp>
        <p:nvSpPr>
          <p:cNvPr id="317" name="Google Shape;317;p35"/>
          <p:cNvSpPr/>
          <p:nvPr/>
        </p:nvSpPr>
        <p:spPr>
          <a:xfrm>
            <a:off x="6138430" y="109986"/>
            <a:ext cx="3005566" cy="511111"/>
          </a:xfrm>
          <a:custGeom>
            <a:rect b="b" l="l" r="r" t="t"/>
            <a:pathLst>
              <a:path extrusionOk="0" h="1362964" w="8014843">
                <a:moveTo>
                  <a:pt x="0" y="0"/>
                </a:moveTo>
                <a:lnTo>
                  <a:pt x="8014843" y="0"/>
                </a:lnTo>
                <a:lnTo>
                  <a:pt x="8014843" y="1362964"/>
                </a:lnTo>
                <a:lnTo>
                  <a:pt x="0" y="1362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" l="0" r="0" t="-17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18" name="Google Shape;318;p35"/>
          <p:cNvCxnSpPr/>
          <p:nvPr/>
        </p:nvCxnSpPr>
        <p:spPr>
          <a:xfrm>
            <a:off x="0" y="745435"/>
            <a:ext cx="9144000" cy="0"/>
          </a:xfrm>
          <a:prstGeom prst="straightConnector1">
            <a:avLst/>
          </a:prstGeom>
          <a:noFill/>
          <a:ln cap="flat" cmpd="sng" w="317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35"/>
          <p:cNvSpPr/>
          <p:nvPr/>
        </p:nvSpPr>
        <p:spPr>
          <a:xfrm>
            <a:off x="637300" y="1135254"/>
            <a:ext cx="7578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0" name="Google Shape;320;p35"/>
          <p:cNvSpPr txBox="1"/>
          <p:nvPr/>
        </p:nvSpPr>
        <p:spPr>
          <a:xfrm>
            <a:off x="328350" y="1542188"/>
            <a:ext cx="8765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24292E"/>
              </a:buClr>
              <a:buSzPts val="1600"/>
              <a:buFont typeface="Gill Sans"/>
              <a:buChar char="●"/>
            </a:pPr>
            <a:r>
              <a:rPr lang="en" sz="16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Overview: </a:t>
            </a:r>
            <a:r>
              <a:rPr lang="en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multi-class clinical dataset focusing on common, high-incidence skin diseases, specifically designed to support low-cost AI diagnostic systems using standard camera inputs</a:t>
            </a:r>
            <a:r>
              <a:rPr lang="en" sz="1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6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1" name="Google Shape;321;p35"/>
          <p:cNvSpPr txBox="1"/>
          <p:nvPr/>
        </p:nvSpPr>
        <p:spPr>
          <a:xfrm>
            <a:off x="138075" y="919313"/>
            <a:ext cx="757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Dataset Name:</a:t>
            </a:r>
            <a:r>
              <a:rPr lang="en" sz="18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" sz="18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SkinDisNet (available via Mendeley Data)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800" u="sng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2" name="Google Shape;322;p35"/>
          <p:cNvSpPr txBox="1"/>
          <p:nvPr/>
        </p:nvSpPr>
        <p:spPr>
          <a:xfrm>
            <a:off x="328350" y="2499538"/>
            <a:ext cx="8077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24292E"/>
              </a:buClr>
              <a:buSzPts val="1600"/>
              <a:buFont typeface="Gill Sans"/>
              <a:buChar char="●"/>
            </a:pPr>
            <a:r>
              <a:rPr lang="en" sz="16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Image Data:</a:t>
            </a:r>
            <a:endParaRPr sz="16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Contains 1,710 original clinical images of common skin conditions.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Covers key diagnostic categories including Eczema, Scabies, Ringworm (Tinea Corporis), and Dermatitis.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Images are pre-standardized to a 512x512 resolution, which significantly reduces the preprocessing load for real-time Edge AI inference.</a:t>
            </a:r>
            <a:endParaRPr sz="16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6"/>
          <p:cNvSpPr txBox="1"/>
          <p:nvPr/>
        </p:nvSpPr>
        <p:spPr>
          <a:xfrm>
            <a:off x="138078" y="82250"/>
            <a:ext cx="57948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DATASET DESCRIPTION: </a:t>
            </a:r>
            <a:endParaRPr sz="7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8" name="Google Shape;328;p36"/>
          <p:cNvSpPr/>
          <p:nvPr/>
        </p:nvSpPr>
        <p:spPr>
          <a:xfrm>
            <a:off x="138063" y="4898743"/>
            <a:ext cx="8995220" cy="17907"/>
          </a:xfrm>
          <a:custGeom>
            <a:rect b="b" l="l" r="r" t="t"/>
            <a:pathLst>
              <a:path extrusionOk="0" h="47752" w="23987252">
                <a:moveTo>
                  <a:pt x="127" y="0"/>
                </a:moveTo>
                <a:lnTo>
                  <a:pt x="23987252" y="41275"/>
                </a:lnTo>
                <a:lnTo>
                  <a:pt x="23987252" y="47752"/>
                </a:lnTo>
                <a:lnTo>
                  <a:pt x="0" y="6477"/>
                </a:lnTo>
                <a:close/>
              </a:path>
            </a:pathLst>
          </a:custGeom>
          <a:solidFill>
            <a:srgbClr val="13508B">
              <a:alpha val="69800"/>
            </a:srgbClr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29" name="Google Shape;329;p36"/>
          <p:cNvGrpSpPr/>
          <p:nvPr/>
        </p:nvGrpSpPr>
        <p:grpSpPr>
          <a:xfrm>
            <a:off x="3018830" y="4889897"/>
            <a:ext cx="3086100" cy="288131"/>
            <a:chOff x="0" y="-38100"/>
            <a:chExt cx="8229600" cy="768350"/>
          </a:xfrm>
        </p:grpSpPr>
        <p:sp>
          <p:nvSpPr>
            <p:cNvPr id="330" name="Google Shape;330;p36"/>
            <p:cNvSpPr/>
            <p:nvPr/>
          </p:nvSpPr>
          <p:spPr>
            <a:xfrm>
              <a:off x="0" y="0"/>
              <a:ext cx="8229600" cy="730250"/>
            </a:xfrm>
            <a:custGeom>
              <a:rect b="b" l="l" r="r" t="t"/>
              <a:pathLst>
                <a:path extrusionOk="0"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31" name="Google Shape;331;p36"/>
            <p:cNvSpPr txBox="1"/>
            <p:nvPr/>
          </p:nvSpPr>
          <p:spPr>
            <a:xfrm>
              <a:off x="0" y="-38100"/>
              <a:ext cx="82296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and Engineering</a:t>
              </a:r>
              <a:endParaRPr sz="700"/>
            </a:p>
          </p:txBody>
        </p:sp>
      </p:grpSp>
      <p:sp>
        <p:nvSpPr>
          <p:cNvPr id="332" name="Google Shape;332;p36"/>
          <p:cNvSpPr/>
          <p:nvPr/>
        </p:nvSpPr>
        <p:spPr>
          <a:xfrm>
            <a:off x="6138430" y="109986"/>
            <a:ext cx="3005566" cy="511112"/>
          </a:xfrm>
          <a:custGeom>
            <a:rect b="b" l="l" r="r" t="t"/>
            <a:pathLst>
              <a:path extrusionOk="0" h="1362964" w="8014843">
                <a:moveTo>
                  <a:pt x="0" y="0"/>
                </a:moveTo>
                <a:lnTo>
                  <a:pt x="8014843" y="0"/>
                </a:lnTo>
                <a:lnTo>
                  <a:pt x="8014843" y="1362964"/>
                </a:lnTo>
                <a:lnTo>
                  <a:pt x="0" y="1362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" l="0" r="0" t="-2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33" name="Google Shape;333;p36"/>
          <p:cNvCxnSpPr/>
          <p:nvPr/>
        </p:nvCxnSpPr>
        <p:spPr>
          <a:xfrm>
            <a:off x="0" y="745435"/>
            <a:ext cx="9144000" cy="0"/>
          </a:xfrm>
          <a:prstGeom prst="straightConnector1">
            <a:avLst/>
          </a:prstGeom>
          <a:noFill/>
          <a:ln cap="flat" cmpd="sng" w="317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36"/>
          <p:cNvSpPr/>
          <p:nvPr/>
        </p:nvSpPr>
        <p:spPr>
          <a:xfrm>
            <a:off x="637300" y="1135254"/>
            <a:ext cx="7578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5" name="Google Shape;335;p36"/>
          <p:cNvSpPr txBox="1"/>
          <p:nvPr/>
        </p:nvSpPr>
        <p:spPr>
          <a:xfrm>
            <a:off x="407100" y="3993775"/>
            <a:ext cx="860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Link:   </a:t>
            </a:r>
            <a:r>
              <a:rPr lang="en" sz="16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4"/>
              </a:rPr>
              <a:t>SkinDisNet: A Multi-Class Clinical Images and Metadata for Skin Disease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</a:t>
            </a:r>
            <a:endParaRPr sz="17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6" name="Google Shape;336;p36"/>
          <p:cNvSpPr txBox="1"/>
          <p:nvPr/>
        </p:nvSpPr>
        <p:spPr>
          <a:xfrm>
            <a:off x="138075" y="941888"/>
            <a:ext cx="83040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24292E"/>
              </a:buClr>
              <a:buSzPts val="1600"/>
              <a:buFont typeface="Gill Sans"/>
              <a:buChar char="●"/>
            </a:pPr>
            <a:r>
              <a:rPr lang="en" sz="16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Clinical Metadata (CSV Details):</a:t>
            </a:r>
            <a:endParaRPr sz="16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Alongside the images, the dataset includes structured patient data to refine the model's predictive accuracy through multimodal analysis.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Features include: Patient Age, Gender, and the specific Anatomical Location of the lesion.</a:t>
            </a:r>
            <a:endParaRPr sz="16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7" name="Google Shape;337;p36"/>
          <p:cNvSpPr txBox="1"/>
          <p:nvPr/>
        </p:nvSpPr>
        <p:spPr>
          <a:xfrm>
            <a:off x="138075" y="2652000"/>
            <a:ext cx="81624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24292E"/>
              </a:buClr>
              <a:buSzPts val="1600"/>
              <a:buFont typeface="Gill Sans"/>
              <a:buChar char="●"/>
            </a:pPr>
            <a:r>
              <a:rPr lang="en" sz="1600">
                <a:solidFill>
                  <a:srgbClr val="24292E"/>
                </a:solidFill>
                <a:latin typeface="Gill Sans"/>
                <a:ea typeface="Gill Sans"/>
                <a:cs typeface="Gill Sans"/>
                <a:sym typeface="Gill Sans"/>
              </a:rPr>
              <a:t>Why this dataset? </a:t>
            </a:r>
            <a:r>
              <a:rPr lang="en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perfectly aligns with our goal of diagnosing common, treatable conditions that allow for safe medicine recommendations. The smartphone-style clinical photos ensure our model is optimized for the "standard camera" approach required for our IoT device.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600">
              <a:solidFill>
                <a:srgbClr val="24292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7"/>
          <p:cNvSpPr txBox="1"/>
          <p:nvPr/>
        </p:nvSpPr>
        <p:spPr>
          <a:xfrm>
            <a:off x="219075" y="33950"/>
            <a:ext cx="55281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PROPOSED WORKFLOW:</a:t>
            </a:r>
            <a:r>
              <a:rPr b="1" lang="en" sz="3300">
                <a:solidFill>
                  <a:srgbClr val="000000"/>
                </a:solidFill>
                <a:latin typeface="Geo"/>
                <a:ea typeface="Geo"/>
                <a:cs typeface="Geo"/>
                <a:sym typeface="Geo"/>
              </a:rPr>
              <a:t> </a:t>
            </a:r>
            <a:endParaRPr sz="700"/>
          </a:p>
        </p:txBody>
      </p:sp>
      <p:sp>
        <p:nvSpPr>
          <p:cNvPr id="343" name="Google Shape;343;p37"/>
          <p:cNvSpPr/>
          <p:nvPr/>
        </p:nvSpPr>
        <p:spPr>
          <a:xfrm>
            <a:off x="138063" y="4898743"/>
            <a:ext cx="8995220" cy="17907"/>
          </a:xfrm>
          <a:custGeom>
            <a:rect b="b" l="l" r="r" t="t"/>
            <a:pathLst>
              <a:path extrusionOk="0" h="47752" w="23987252">
                <a:moveTo>
                  <a:pt x="127" y="0"/>
                </a:moveTo>
                <a:lnTo>
                  <a:pt x="23987252" y="41275"/>
                </a:lnTo>
                <a:lnTo>
                  <a:pt x="23987252" y="47752"/>
                </a:lnTo>
                <a:lnTo>
                  <a:pt x="0" y="6477"/>
                </a:lnTo>
                <a:close/>
              </a:path>
            </a:pathLst>
          </a:custGeom>
          <a:solidFill>
            <a:srgbClr val="13508B">
              <a:alpha val="69800"/>
            </a:srgbClr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44" name="Google Shape;344;p37"/>
          <p:cNvGrpSpPr/>
          <p:nvPr/>
        </p:nvGrpSpPr>
        <p:grpSpPr>
          <a:xfrm>
            <a:off x="3018830" y="4889897"/>
            <a:ext cx="3086100" cy="288131"/>
            <a:chOff x="0" y="-38100"/>
            <a:chExt cx="8229600" cy="768350"/>
          </a:xfrm>
        </p:grpSpPr>
        <p:sp>
          <p:nvSpPr>
            <p:cNvPr id="345" name="Google Shape;345;p37"/>
            <p:cNvSpPr/>
            <p:nvPr/>
          </p:nvSpPr>
          <p:spPr>
            <a:xfrm>
              <a:off x="0" y="0"/>
              <a:ext cx="8229600" cy="730250"/>
            </a:xfrm>
            <a:custGeom>
              <a:rect b="b" l="l" r="r" t="t"/>
              <a:pathLst>
                <a:path extrusionOk="0"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46" name="Google Shape;346;p37"/>
            <p:cNvSpPr txBox="1"/>
            <p:nvPr/>
          </p:nvSpPr>
          <p:spPr>
            <a:xfrm>
              <a:off x="0" y="-38100"/>
              <a:ext cx="82296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and Engineering</a:t>
              </a:r>
              <a:endParaRPr sz="700"/>
            </a:p>
          </p:txBody>
        </p:sp>
      </p:grpSp>
      <p:grpSp>
        <p:nvGrpSpPr>
          <p:cNvPr id="347" name="Google Shape;347;p37"/>
          <p:cNvGrpSpPr/>
          <p:nvPr/>
        </p:nvGrpSpPr>
        <p:grpSpPr>
          <a:xfrm>
            <a:off x="6438305" y="4889897"/>
            <a:ext cx="2057400" cy="288131"/>
            <a:chOff x="0" y="-38100"/>
            <a:chExt cx="5486400" cy="768350"/>
          </a:xfrm>
        </p:grpSpPr>
        <p:sp>
          <p:nvSpPr>
            <p:cNvPr id="348" name="Google Shape;348;p37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49" name="Google Shape;349;p37"/>
            <p:cNvSpPr txBox="1"/>
            <p:nvPr/>
          </p:nvSpPr>
          <p:spPr>
            <a:xfrm>
              <a:off x="0" y="-38100"/>
              <a:ext cx="54864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700"/>
            </a:p>
          </p:txBody>
        </p:sp>
      </p:grpSp>
      <p:sp>
        <p:nvSpPr>
          <p:cNvPr id="350" name="Google Shape;350;p37"/>
          <p:cNvSpPr/>
          <p:nvPr/>
        </p:nvSpPr>
        <p:spPr>
          <a:xfrm>
            <a:off x="6138430" y="109986"/>
            <a:ext cx="3005566" cy="511112"/>
          </a:xfrm>
          <a:custGeom>
            <a:rect b="b" l="l" r="r" t="t"/>
            <a:pathLst>
              <a:path extrusionOk="0" h="1362964" w="8014843">
                <a:moveTo>
                  <a:pt x="0" y="0"/>
                </a:moveTo>
                <a:lnTo>
                  <a:pt x="8014843" y="0"/>
                </a:lnTo>
                <a:lnTo>
                  <a:pt x="8014843" y="1362964"/>
                </a:lnTo>
                <a:lnTo>
                  <a:pt x="0" y="1362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" l="0" r="0" t="-2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51" name="Google Shape;351;p37"/>
          <p:cNvCxnSpPr/>
          <p:nvPr/>
        </p:nvCxnSpPr>
        <p:spPr>
          <a:xfrm>
            <a:off x="0" y="745435"/>
            <a:ext cx="9144000" cy="0"/>
          </a:xfrm>
          <a:prstGeom prst="straightConnector1">
            <a:avLst/>
          </a:prstGeom>
          <a:noFill/>
          <a:ln cap="flat" cmpd="sng" w="317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52" name="Google Shape;352;p37" title="ChatGPT Image Apr 29, 2026, 10_55_18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0625" y="890250"/>
            <a:ext cx="7304724" cy="385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8"/>
          <p:cNvSpPr/>
          <p:nvPr/>
        </p:nvSpPr>
        <p:spPr>
          <a:xfrm>
            <a:off x="138063" y="4898743"/>
            <a:ext cx="8995219" cy="17907"/>
          </a:xfrm>
          <a:custGeom>
            <a:rect b="b" l="l" r="r" t="t"/>
            <a:pathLst>
              <a:path extrusionOk="0" h="47752" w="23987252">
                <a:moveTo>
                  <a:pt x="127" y="0"/>
                </a:moveTo>
                <a:lnTo>
                  <a:pt x="23987252" y="41275"/>
                </a:lnTo>
                <a:lnTo>
                  <a:pt x="23987252" y="47752"/>
                </a:lnTo>
                <a:lnTo>
                  <a:pt x="0" y="6477"/>
                </a:lnTo>
                <a:close/>
              </a:path>
            </a:pathLst>
          </a:custGeom>
          <a:solidFill>
            <a:srgbClr val="13508B">
              <a:alpha val="69803"/>
            </a:srgbClr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58" name="Google Shape;358;p38"/>
          <p:cNvGrpSpPr/>
          <p:nvPr/>
        </p:nvGrpSpPr>
        <p:grpSpPr>
          <a:xfrm>
            <a:off x="3018830" y="4889897"/>
            <a:ext cx="3086100" cy="288132"/>
            <a:chOff x="0" y="-38100"/>
            <a:chExt cx="8229600" cy="768350"/>
          </a:xfrm>
        </p:grpSpPr>
        <p:sp>
          <p:nvSpPr>
            <p:cNvPr id="359" name="Google Shape;359;p38"/>
            <p:cNvSpPr/>
            <p:nvPr/>
          </p:nvSpPr>
          <p:spPr>
            <a:xfrm>
              <a:off x="0" y="0"/>
              <a:ext cx="8229600" cy="730250"/>
            </a:xfrm>
            <a:custGeom>
              <a:rect b="b" l="l" r="r" t="t"/>
              <a:pathLst>
                <a:path extrusionOk="0"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60" name="Google Shape;360;p38"/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and Engineering</a:t>
              </a:r>
              <a:endParaRPr sz="700"/>
            </a:p>
          </p:txBody>
        </p:sp>
      </p:grpSp>
      <p:grpSp>
        <p:nvGrpSpPr>
          <p:cNvPr id="361" name="Google Shape;361;p38"/>
          <p:cNvGrpSpPr/>
          <p:nvPr/>
        </p:nvGrpSpPr>
        <p:grpSpPr>
          <a:xfrm>
            <a:off x="6438305" y="4889897"/>
            <a:ext cx="2057400" cy="288132"/>
            <a:chOff x="0" y="-38100"/>
            <a:chExt cx="5486400" cy="768350"/>
          </a:xfrm>
        </p:grpSpPr>
        <p:sp>
          <p:nvSpPr>
            <p:cNvPr id="362" name="Google Shape;362;p38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63" name="Google Shape;363;p38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27</a:t>
              </a:r>
              <a:endPara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38"/>
          <p:cNvSpPr/>
          <p:nvPr/>
        </p:nvSpPr>
        <p:spPr>
          <a:xfrm>
            <a:off x="2753139" y="109986"/>
            <a:ext cx="4015403" cy="511111"/>
          </a:xfrm>
          <a:custGeom>
            <a:rect b="b" l="l" r="r" t="t"/>
            <a:pathLst>
              <a:path extrusionOk="0" h="1362964" w="8014843">
                <a:moveTo>
                  <a:pt x="0" y="0"/>
                </a:moveTo>
                <a:lnTo>
                  <a:pt x="8014843" y="0"/>
                </a:lnTo>
                <a:lnTo>
                  <a:pt x="8014843" y="1362964"/>
                </a:lnTo>
                <a:lnTo>
                  <a:pt x="0" y="1362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" l="0" r="0" t="-17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65" name="Google Shape;365;p38"/>
          <p:cNvCxnSpPr/>
          <p:nvPr/>
        </p:nvCxnSpPr>
        <p:spPr>
          <a:xfrm>
            <a:off x="0" y="745435"/>
            <a:ext cx="9144000" cy="0"/>
          </a:xfrm>
          <a:prstGeom prst="straightConnector1">
            <a:avLst/>
          </a:prstGeom>
          <a:noFill/>
          <a:ln cap="flat" cmpd="sng" w="317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38"/>
          <p:cNvSpPr txBox="1"/>
          <p:nvPr/>
        </p:nvSpPr>
        <p:spPr>
          <a:xfrm>
            <a:off x="2210524" y="2163946"/>
            <a:ext cx="4850296" cy="81560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73763"/>
                </a:solidFill>
                <a:latin typeface="Gill Sans"/>
                <a:ea typeface="Gill Sans"/>
                <a:cs typeface="Gill Sans"/>
                <a:sym typeface="Gill Sans"/>
              </a:rPr>
              <a:t>THANK YOU</a:t>
            </a:r>
            <a:endParaRPr sz="700">
              <a:solidFill>
                <a:srgbClr val="07376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